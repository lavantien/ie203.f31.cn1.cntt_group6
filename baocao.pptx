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Thoi luong toi da 5 phut, bat cam khi bao cao; qua thoi gian 5 phut tru 1 diem.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Tong toi thieu 10 quy trinh; moi lop Management/Core/Support it nhat 3 quy trinh.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cau hoi = 10 dinh tinh + 10 dinh luong; moi loai 5 cau co cau truc va 5 cau khong cau truc.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quy trinh/slide; word 2 quy trinh moi lop. Cham do phuc tap, cong dieu kien, split &amp; join, ky hieu dung. Chen PNG BPMN chat luong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quy trinh/slide; word 2 quy trinh moi lop. Cham do phuc tap, cong dieu kien, split &amp; join, ky hieu dung. Chen PNG BPMN chat luong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quy trinh/slide; word 2 quy trinh moi lop. Cham do phuc tap, cong dieu kien, split &amp; join, ky hieu dung. Chen PNG BPMN chat luong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quy trinh/slide; word 2 quy trinh moi lop. Cham do phuc tap, cong dieu kien, split &amp; join, ky hieu dung. Chen PNG BPMN chat luong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quy trinh/slide; word 2 quy trinh moi lop. Cham do phuc tap, cong dieu kien, split &amp; join, ky hieu dung. Chen PNG BPMN chat luong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quy trinh/slide; word 2 quy trinh moi lop. Cham do phuc tap, cong dieu kien, split &amp; join, ky hieu dung. Chen PNG BPMN chat luong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Phan tich tren 2 quy trinh bang bang (VA/VBA/NVA; lang phi Move/Hold/Overdo); ben lien quan chon 1 trong Pareto / Root-cause / Fishbone.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Phan tich tren 2 quy trinh bang bang thoi gian, chat luong, chi phi (liet ke - tinh toan - khac phuc).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Theo chuẩn IEEE.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Phân tích quy trình nghiệp vụ tại Highlands Coffee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/>
              <a:t>ĐẠI HỌC QUỐC GIA TP. HỒ CHÍ MINH</a:t>
            </a:r>
          </a:p>
          <a:p>
            <a:r>
              <a:rPr sz="1300"/>
              <a:t>TRƯỜNG ĐẠI HỌC CÔNG NGHỆ THÔNG TIN</a:t>
            </a:r>
          </a:p>
          <a:p/>
          <a:p>
            <a:r>
              <a:rPr sz="1300"/>
              <a:t>BÀI TẬP ĐỒ ÁN</a:t>
            </a:r>
          </a:p>
          <a:p/>
          <a:p>
            <a:r>
              <a:rPr sz="1300"/>
              <a:t>La Văn Tiến - 24730144</a:t>
            </a:r>
          </a:p>
          <a:p>
            <a:r>
              <a:rPr sz="1300"/>
              <a:t>Lê Thị Mỹ Dung - 24730091</a:t>
            </a:r>
          </a:p>
          <a:p>
            <a:r>
              <a:rPr sz="1300"/>
              <a:t>Nguyễn Duy Nhiệm - 24730129</a:t>
            </a:r>
          </a:p>
          <a:p>
            <a:r>
              <a:rPr sz="1300"/>
              <a:t>Hoàng Ngọc Long - 24730108</a:t>
            </a:r>
          </a:p>
          <a:p>
            <a:r>
              <a:rPr sz="1300"/>
              <a:t>Bùi Quang Vinh - 24730151</a:t>
            </a:r>
          </a:p>
          <a:p/>
          <a:p>
            <a:r>
              <a:rPr sz="1300"/>
              <a:t>GVHD: ThS. Hà Lê Hoài Trung</a:t>
            </a:r>
          </a:p>
          <a:p>
            <a:r>
              <a:rPr sz="1300"/>
              <a:t>TP. HỒ CHÍ MINH, 2026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trình bày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Mở đầu</a:t>
            </a:r>
          </a:p>
          <a:p>
            <a:pPr/>
            <a:r>
              <a:t>Chương 1. TỔNG QUAN VỀ HIGHLANDS COFFEE VÀ BỘ QUY TRÌNH NGHIỆP VỤ</a:t>
            </a:r>
          </a:p>
          <a:p>
            <a:pPr/>
            <a:r>
              <a:t>Chương 2. PHƯƠNG PHÁP THU THẬP VÀ MÔ HÌNH HÓA QUY TRÌNH</a:t>
            </a:r>
          </a:p>
          <a:p>
            <a:pPr/>
            <a:r>
              <a:t>Chương 3. PHÂN TÍCH QUY TRÌNH NGHIỆP VỤ</a:t>
            </a:r>
          </a:p>
          <a:p>
            <a:pPr/>
            <a:r>
              <a:t>Tài liệu tham khảo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MỞ ĐẦU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[Bổ sung nội dung mở đầu]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CHƯƠNG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QUAN VỀ HIGHLANDS COFFEE VÀ BỘ QUY TRÌNH NGHIỆP VỤ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Giới thiệu Highlands Coffee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[Bổ sung nội dung]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Sơ đồ tổ chức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[Hình 1.1: Sơ đồ tổ chức Highlands Coffee]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Thuật ngữ và sổ tay nghiệp vụ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[Bảng 1.1: Bảng thuật ngữ nghiệp vụ]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Phân loại và liệt kê quy trình nghiệp vụ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Quy trình quản lý (Management)</a:t>
            </a:r>
          </a:p>
          <a:p>
            <a:pPr lvl="1"/>
            <a:r>
              <a:t>[Bảng 1.2: Danh mục quy trình quản lý]</a:t>
            </a:r>
          </a:p>
          <a:p>
            <a:pPr/>
            <a:r>
              <a:t>Quy trình cốt lõi (Core)</a:t>
            </a:r>
          </a:p>
          <a:p>
            <a:pPr lvl="1"/>
            <a:r>
              <a:t>[Bảng 1.3: Danh mục quy trình cốt lõi]</a:t>
            </a:r>
          </a:p>
          <a:p>
            <a:pPr/>
            <a:r>
              <a:t>Quy trình hỗ trợ (Support)</a:t>
            </a:r>
          </a:p>
          <a:p>
            <a:pPr lvl="1"/>
            <a:r>
              <a:t>[Bảng 1.4: Danh mục quy trình hỗ trợ]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1.5 Sơ đồ kiến trúc quy trình tổng thể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[Hình 1.2: Kiến trúc quy trình Highlands Coffee]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CHƯƠNG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PHƯƠNG PHÁP THU THẬP VÀ MÔ HÌNH HÓA QUY TRÌNH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Phương pháp thu thập thông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Mô tả quy trình hiện có (as-is)</a:t>
            </a:r>
          </a:p>
          <a:p>
            <a:pPr/>
            <a:r>
              <a:t>Biểu mẫu workshop và kịch bản quan sát</a:t>
            </a:r>
          </a:p>
          <a:p>
            <a:pPr lvl="1"/>
            <a:r>
              <a:t>[Bảng 2.1: Mẫu quan sát quy trình]</a:t>
            </a:r>
          </a:p>
          <a:p>
            <a:pPr/>
            <a:r>
              <a:t>Kế hoạch làm việc (bằng chứng - nếu có)</a:t>
            </a:r>
          </a:p>
          <a:p>
            <a:pPr lvl="1"/>
            <a:r>
              <a:t>[Hình 2.1: Kế hoạch làm việc của Highlands Coffee (bằng chứng, nếu có)]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Phỏng vấn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Phân loại câu hỏi</a:t>
            </a:r>
          </a:p>
          <a:p>
            <a:pPr lvl="1"/>
            <a:r>
              <a:t>[Bảng 2.2: Ma trận phân loại câu hỏi phỏng vấn]</a:t>
            </a:r>
          </a:p>
          <a:p>
            <a:pPr/>
            <a:r>
              <a:t>Bộ 20 câu hỏi phỏng vấn</a:t>
            </a:r>
          </a:p>
          <a:p>
            <a:pPr lvl="1"/>
            <a:r>
              <a:t>[Bảng 2.3: Bộ 20 câu hỏi phỏng vấn]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BPMN quy trình quản lý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[Hình 2.2: BPMN quy trình quản lý 1 — chèn PNG BPMN chất lượng cao]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BPMN quy trình quản lý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[Hình 2.3: BPMN quy trình quản lý 2 — chèn PNG BPMN chất lượng cao]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 BPMN quy trình cốt lõi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[Hình 2.4: BPMN quy trình cốt lõi 1 — chèn PNG BPMN chất lượng cao]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 BPMN quy trình cốt lõi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[Hình 2.5: BPMN quy trình cốt lõi 2 — chèn PNG BPMN chất lượng cao]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2.7 BPMN quy trình hỗ trợ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[Hình 2.6: BPMN quy trình hỗ trợ 1 — chèn PNG BPMN chất lượng cao]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2.8 BPMN quy trình hỗ trợ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[Hình 2.7: BPMN quy trình hỗ trợ 2 — chèn PNG BPMN chất lượng cao]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CHƯƠNG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PHÂN TÍCH QUY TRÌNH NGHIỆP VỤ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Phân tích định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Phân tích giá trị gia tăng (VA/VBA/NVA)</a:t>
            </a:r>
          </a:p>
          <a:p>
            <a:pPr lvl="1"/>
            <a:r>
              <a:t>[Bảng 3.1: Phân tích VA/VBA/NVA quy trình 1]</a:t>
            </a:r>
          </a:p>
          <a:p>
            <a:pPr lvl="1"/>
            <a:r>
              <a:t>[Bảng 3.2: Phân tích VA/VBA/NVA quy trình 2]</a:t>
            </a:r>
          </a:p>
          <a:p>
            <a:pPr/>
            <a:r>
              <a:t>Phân tích sự lãng phí (Move/Hold/Overdo)</a:t>
            </a:r>
          </a:p>
          <a:p>
            <a:pPr lvl="1"/>
            <a:r>
              <a:t>[Bảng 3.3: Phân tích lãng phí quy trình 1]</a:t>
            </a:r>
          </a:p>
          <a:p>
            <a:pPr lvl="1"/>
            <a:r>
              <a:t>[Bảng 3.4: Phân tích lãng phí quy trình 2]</a:t>
            </a:r>
          </a:p>
          <a:p>
            <a:pPr/>
            <a:r>
              <a:t>Phân tích các bên liên quan</a:t>
            </a:r>
          </a:p>
          <a:p>
            <a:pPr lvl="1"/>
            <a:r>
              <a:t>[Hình 3.1: Phân tích bên liên quan (Pareto/Fishbone/Root-cause)]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Phân tích định lượng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Phân tích thời gian</a:t>
            </a:r>
          </a:p>
          <a:p>
            <a:pPr lvl="1"/>
            <a:r>
              <a:t>[Bảng 3.5: Phân tích thời gian quy trình]</a:t>
            </a:r>
          </a:p>
          <a:p>
            <a:pPr/>
            <a:r>
              <a:t>Phân tích chất lượng</a:t>
            </a:r>
          </a:p>
          <a:p>
            <a:pPr lvl="1"/>
            <a:r>
              <a:t>[Bảng 3.6: Phân tích chất lượng quy trình]</a:t>
            </a:r>
          </a:p>
          <a:p>
            <a:pPr/>
            <a:r>
              <a:t>Phân tích chi phí</a:t>
            </a:r>
          </a:p>
          <a:p>
            <a:pPr lvl="1"/>
            <a:r>
              <a:t>[Bảng 3.7: Phân tích chi phí quy trình]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TÀI LIỆU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[Danh mục tài liệu tham khảo]</a:t>
            </a:r>
          </a:p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CẢM 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ageNumber"/>
          <p:cNvSpPr txBox="1"/>
          <p:nvPr/>
        </p:nvSpPr>
        <p:spPr>
          <a:xfrm>
            <a:off x="11521440" y="6492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