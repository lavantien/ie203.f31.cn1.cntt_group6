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ghlands_bg_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365760" y="365760"/>
            <a:ext cx="11460175" cy="6126480"/>
          </a:xfrm>
          <a:prstGeom prst="rect">
            <a:avLst/>
          </a:prstGeom>
          <a:noFill/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594360"/>
            <a:ext cx="3962095" cy="502920"/>
          </a:xfrm>
          <a:prstGeom prst="rect">
            <a:avLst/>
          </a:prstGeom>
          <a:solidFill>
            <a:srgbClr val="781419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D97706"/>
                </a:solidFill>
                <a:latin typeface="Segoe UI"/>
              </a:defRPr>
            </a:pPr>
            <a:r>
              <a:t>✦  HIGHLANDS COFFEE  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2865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1250" b="1">
                <a:solidFill>
                  <a:srgbClr val="D97706"/>
                </a:solidFill>
                <a:latin typeface="Segoe UI"/>
              </a:defRPr>
            </a:pPr>
            <a:r>
              <a:t>TRƯỜNG ĐẠI HỌC CÔNG NGHỆ THÔNG TIN - ĐHQG-HCM | KHOA HỆ THỐNG THÔNG TIN</a:t>
            </a:r>
          </a:p>
          <a:p>
            <a:pPr algn="ctr">
              <a:spcAft>
                <a:spcPts val="1200"/>
              </a:spcAft>
              <a:defRPr sz="2900" b="1">
                <a:solidFill>
                  <a:srgbClr val="FFFFFF"/>
                </a:solidFill>
                <a:latin typeface="Segoe UI"/>
              </a:defRPr>
            </a:pPr>
            <a:r>
              <a:t>TỐI ƯU HÓA QUY TRÌNH NGHIỆP VỤ</a:t>
            </a:r>
            <a:br/>
            <a:r>
              <a:t>CHUỖI CỬA HÀNG HIGHLANDS COFFEE</a:t>
            </a:r>
          </a:p>
          <a:p>
            <a:pPr algn="ctr">
              <a:defRPr sz="1200">
                <a:solidFill>
                  <a:srgbClr val="FEE2E2"/>
                </a:solidFill>
                <a:latin typeface="Segoe UI"/>
              </a:defRPr>
            </a:pPr>
            <a:r>
              <a:t>Đồ Án Môn Học: Hệ Thống Quản Trị Quy Trình Nghiệp Vụ (IE203)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434840"/>
            <a:ext cx="5212080" cy="1691640"/>
          </a:xfrm>
          <a:prstGeom prst="rect">
            <a:avLst/>
          </a:prstGeom>
          <a:solidFill>
            <a:srgbClr val="500A0F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572000"/>
            <a:ext cx="47548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 b="1">
                <a:solidFill>
                  <a:srgbClr val="D97706"/>
                </a:solidFill>
                <a:latin typeface="Segoe UI"/>
              </a:defRPr>
            </a:pPr>
            <a:r>
              <a:t>🎓 GIẢNG VIÊN HƯỚNG DẪN</a:t>
            </a:r>
          </a:p>
          <a:p>
            <a:pPr>
              <a:spcAft>
                <a:spcPts val="3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ThS. Hà Lê Hoài Trung</a:t>
            </a:r>
          </a:p>
          <a:p>
            <a:pPr>
              <a:defRPr sz="950">
                <a:solidFill>
                  <a:srgbClr val="FEE2E2"/>
                </a:solidFill>
                <a:latin typeface="Segoe UI"/>
              </a:defRPr>
            </a:pPr>
            <a:r>
              <a:t>Bộ môn Hệ thống Thông tin</a:t>
            </a:r>
            <a:br/>
            <a:r>
              <a:t>Khoa HTTT – Trường ĐH Công nghệ Thông tin (UIT)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8095" y="4434840"/>
            <a:ext cx="5212080" cy="1691640"/>
          </a:xfrm>
          <a:prstGeom prst="rect">
            <a:avLst/>
          </a:prstGeom>
          <a:solidFill>
            <a:srgbClr val="500A0F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6695" y="45720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D97706"/>
                </a:solidFill>
                <a:latin typeface="Segoe UI"/>
              </a:defRPr>
            </a:pPr>
            <a:r>
              <a:t>👥 NHÓM SINH VIÊN (LỚP IE203.P11)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6695" y="4873752"/>
            <a:ext cx="2468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  <a:defRPr sz="950" b="1">
                <a:solidFill>
                  <a:srgbClr val="FFFFFF"/>
                </a:solidFill>
                <a:latin typeface="Segoe UI"/>
              </a:defRPr>
            </a:pPr>
            <a:r>
              <a:t>▸ Nguyễn Duy Nhiệm – 24730129</a:t>
            </a:r>
          </a:p>
          <a:p>
            <a:pPr>
              <a:spcAft>
                <a:spcPts val="250"/>
              </a:spcAft>
              <a:defRPr sz="950" b="1">
                <a:solidFill>
                  <a:srgbClr val="FFFFFF"/>
                </a:solidFill>
                <a:latin typeface="Segoe UI"/>
              </a:defRPr>
            </a:pPr>
            <a:r>
              <a:t>▸ La Văn Tiến – 24730144</a:t>
            </a:r>
          </a:p>
          <a:p>
            <a:pPr>
              <a:spcAft>
                <a:spcPts val="250"/>
              </a:spcAft>
              <a:defRPr sz="950" b="1">
                <a:solidFill>
                  <a:srgbClr val="FFFFFF"/>
                </a:solidFill>
                <a:latin typeface="Segoe UI"/>
              </a:defRPr>
            </a:pPr>
            <a:r>
              <a:t>▸ Lê Thị Mỹ Dung – 24730091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1295" y="4873752"/>
            <a:ext cx="2286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  <a:defRPr sz="950" b="1">
                <a:solidFill>
                  <a:srgbClr val="FFFFFF"/>
                </a:solidFill>
                <a:latin typeface="Segoe UI"/>
              </a:defRPr>
            </a:pPr>
            <a:r>
              <a:t>▸ Hoàng Ngọc Long – 24730108</a:t>
            </a:r>
          </a:p>
          <a:p>
            <a:pPr>
              <a:spcAft>
                <a:spcPts val="250"/>
              </a:spcAft>
              <a:defRPr sz="950" b="1">
                <a:solidFill>
                  <a:srgbClr val="FFFFFF"/>
                </a:solidFill>
                <a:latin typeface="Segoe UI"/>
              </a:defRPr>
            </a:pPr>
            <a:r>
              <a:t>▸ Bùi Quang Vinh – 24730151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E293B"/>
                </a:solidFill>
                <a:latin typeface="Segoe UI"/>
              </a:defRPr>
            </a:pPr>
            <a:r>
              <a:t>Nội dung trình bày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1188720" cy="411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3870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981D23"/>
                </a:solidFill>
                <a:latin typeface="Segoe UI"/>
              </a:defRPr>
            </a:pPr>
            <a:r>
              <a:t>MỤC LỤC &amp; NỘI DUNG BÁO CÁO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>
                <a:solidFill>
                  <a:srgbClr val="64748B"/>
                </a:solidFill>
                <a:latin typeface="Segoe UI"/>
              </a:defRPr>
            </a:pPr>
            <a:r>
              <a:t>2 / 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0728655" cy="8412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188720"/>
            <a:ext cx="73152" cy="841248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335024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981D23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1316736"/>
            <a:ext cx="95399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293B"/>
                </a:solidFill>
                <a:latin typeface="Segoe UI"/>
              </a:defRPr>
            </a:pPr>
            <a:r>
              <a:t>Tổng quan Doanh nghiệp &amp; Kiến trúc 12 Quy trình</a:t>
            </a:r>
          </a:p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Mô hình Ngôi nhà Dumas 3 tầng (4 Quản lý, 5 Cốt lõi, 3 Hỗ trợ) &amp; 7 sơ đồ BPMN chi tiết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194560"/>
            <a:ext cx="10728655" cy="8412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194560"/>
            <a:ext cx="73152" cy="8412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340864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D97706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2322576"/>
            <a:ext cx="95399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293B"/>
                </a:solidFill>
                <a:latin typeface="Segoe UI"/>
              </a:defRPr>
            </a:pPr>
            <a:r>
              <a:t>Phương pháp Khám phá Quy trình (Process Discovery)</a:t>
            </a:r>
          </a:p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Bằng chứng thực địa Time Study N = 120, Sơ đồ tổ chức &amp; 20 câu hỏi phỏng vấn chuẩn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200400"/>
            <a:ext cx="10728655" cy="8412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200400"/>
            <a:ext cx="73152" cy="84124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346704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DC2626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3328416"/>
            <a:ext cx="95399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293B"/>
                </a:solidFill>
                <a:latin typeface="Segoe UI"/>
              </a:defRPr>
            </a:pPr>
            <a:r>
              <a:t>Phân tích Định tính Hiện trạng Quy trình (As-Is)</a:t>
            </a:r>
          </a:p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Phân tích VA/BVA/NVA, 7 Lãng phí Lean, Biểu đồ Pareto 80/20, 5-Why &amp; Ishikawa 6M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206240"/>
            <a:ext cx="10728655" cy="8412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4206240"/>
            <a:ext cx="73152" cy="841248"/>
          </a:xfrm>
          <a:prstGeom prst="rect">
            <a:avLst/>
          </a:prstGeom>
          <a:solidFill>
            <a:srgbClr val="109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352544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0955D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3080" y="4334256"/>
            <a:ext cx="95399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293B"/>
                </a:solidFill>
                <a:latin typeface="Segoe UI"/>
              </a:defRPr>
            </a:pPr>
            <a:r>
              <a:t>Thiết kế Quy trình Cải tiến &amp; Kiến trúc Hệ thống (To-Be)</a:t>
            </a:r>
          </a:p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4 Hướng giải pháp BPR, C4 Container, BPMS 4 Tầng Camunda, BPMN To-Be &amp; RACI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5212080"/>
            <a:ext cx="10728655" cy="8412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5212080"/>
            <a:ext cx="73152" cy="841248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358384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981D23"/>
                </a:solidFill>
                <a:latin typeface="Segoe UI"/>
              </a:defRPr>
            </a:pPr>
            <a: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340096"/>
            <a:ext cx="95399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293B"/>
                </a:solidFill>
                <a:latin typeface="Segoe UI"/>
              </a:defRPr>
            </a:pPr>
            <a:r>
              <a:t>Phân tích Định lượng Hiệu quả &amp; Giám sát Vận hành</a:t>
            </a:r>
          </a:p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Flow Analysis 4 khối BPMN (Giảm 79.6% CT, -66.4% Phí), BAM Dashboard &amp; Roadmap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E293B"/>
                </a:solidFill>
                <a:latin typeface="Segoe UI"/>
              </a:defRPr>
            </a:pPr>
            <a:r>
              <a:t>Tổng quan chuỗi Highlands Coffee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1188720" cy="411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3870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981D23"/>
                </a:solidFill>
                <a:latin typeface="Segoe UI"/>
              </a:defRPr>
            </a:pPr>
            <a:r>
              <a:t>CHƯƠNG 1: TỔNG QUAN DOANH NGHIỆP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>
                <a:solidFill>
                  <a:srgbClr val="64748B"/>
                </a:solidFill>
                <a:latin typeface="Segoe UI"/>
              </a:defRPr>
            </a:pPr>
            <a:r>
              <a:t>3 / 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52120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188720"/>
            <a:ext cx="54864" cy="1481328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298448"/>
            <a:ext cx="493776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981D23"/>
                </a:solidFill>
                <a:latin typeface="Segoe UI"/>
              </a:defRPr>
            </a:pPr>
            <a:r>
              <a:t>🏛️ Quy mô mạng lưới &amp; Thị phần</a:t>
            </a:r>
          </a:p>
          <a:p>
            <a:pPr>
              <a:defRPr sz="1000">
                <a:solidFill>
                  <a:srgbClr val="1E293B"/>
                </a:solidFill>
                <a:latin typeface="Segoe UI"/>
              </a:defRPr>
            </a:pPr>
            <a:r>
              <a:t>Hơn 1.000 cửa hàng trên khắp 63 tỉnh thành; 2 xưởng rang công suất lớn tại Bình Dương và Đắk Lắk, dẫn đầu thị phần chuỗi cà phê chuỗi tại Việt Nam.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871216"/>
            <a:ext cx="52120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871216"/>
            <a:ext cx="54864" cy="14813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2980944"/>
            <a:ext cx="493776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D97706"/>
                </a:solidFill>
                <a:latin typeface="Segoe UI"/>
              </a:defRPr>
            </a:pPr>
            <a:r>
              <a:t>🎯 Sứ mệnh &amp; Khách hàng mục tiêu</a:t>
            </a:r>
          </a:p>
          <a:p>
            <a:pPr>
              <a:defRPr sz="1000">
                <a:solidFill>
                  <a:srgbClr val="1E293B"/>
                </a:solidFill>
                <a:latin typeface="Segoe UI"/>
              </a:defRPr>
            </a:pPr>
            <a:r>
              <a:t>'Đậm đà bản sắc cà phê Việt &amp; Tự hào đất Việt' — phục vụ hơn 5 triệu lượt khách mỗi tháng (Dân văn phòng, giới trẻ, gia đình).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553712"/>
            <a:ext cx="52120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553712"/>
            <a:ext cx="54864" cy="1481328"/>
          </a:xfrm>
          <a:prstGeom prst="rect">
            <a:avLst/>
          </a:prstGeom>
          <a:solidFill>
            <a:srgbClr val="109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4663440"/>
            <a:ext cx="493776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10955D"/>
                </a:solidFill>
                <a:latin typeface="Segoe UI"/>
              </a:defRPr>
            </a:pPr>
            <a:r>
              <a:t>☕ Dòng sản phẩm chủ lực</a:t>
            </a:r>
          </a:p>
          <a:p>
            <a:pPr>
              <a:defRPr sz="1000">
                <a:solidFill>
                  <a:srgbClr val="1E293B"/>
                </a:solidFill>
                <a:latin typeface="Segoe UI"/>
              </a:defRPr>
            </a:pPr>
            <a:r>
              <a:t>Cà phê Phin truyền thống (Phin Sữa Đá), Trà đặc trưng (Trà Sen Vàng), Đá xay Freeze và Bánh mì tươi.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5352" y="1188720"/>
            <a:ext cx="52120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5352" y="1188720"/>
            <a:ext cx="54864" cy="148132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9944" y="1298448"/>
            <a:ext cx="493776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1E293B"/>
                </a:solidFill>
                <a:latin typeface="Segoe UI"/>
              </a:defRPr>
            </a:pPr>
            <a:r>
              <a:t>⚡ Mô hình phục vụ &amp; Kênh bán lẻ</a:t>
            </a:r>
          </a:p>
          <a:p>
            <a:pPr>
              <a:defRPr sz="1000">
                <a:solidFill>
                  <a:srgbClr val="1E293B"/>
                </a:solidFill>
                <a:latin typeface="Segoe UI"/>
              </a:defRPr>
            </a:pPr>
            <a:r>
              <a:t>Bán hàng tự phục vụ (Self-Service) kết hợp trải nghiệm tại quán (Dine-in), mang đi (Take-away) và giao hàng đa kênh.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352" y="2871216"/>
            <a:ext cx="52120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5352" y="2871216"/>
            <a:ext cx="54864" cy="14813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9944" y="2980944"/>
            <a:ext cx="493776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D97706"/>
                </a:solidFill>
                <a:latin typeface="Segoe UI"/>
              </a:defRPr>
            </a:pPr>
            <a:r>
              <a:t>💻 Hạ tầng CNTT hiện hữu</a:t>
            </a:r>
          </a:p>
          <a:p>
            <a:pPr>
              <a:defRPr sz="1000">
                <a:solidFill>
                  <a:srgbClr val="1E293B"/>
                </a:solidFill>
                <a:latin typeface="Segoe UI"/>
              </a:defRPr>
            </a:pPr>
            <a:r>
              <a:t>Hệ thống POS iPOS tại quầy order, SAP S/4HANA ERP quản trị chuỗi cung ứng/BOM và Highlands Rewards App.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45352" y="4553712"/>
            <a:ext cx="52120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45352" y="4553712"/>
            <a:ext cx="54864" cy="148132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9944" y="4663440"/>
            <a:ext cx="493776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DC2626"/>
                </a:solidFill>
                <a:latin typeface="Segoe UI"/>
              </a:defRPr>
            </a:pPr>
            <a:r>
              <a:t>⚠️ Thách thức vận hành trọng tâm</a:t>
            </a:r>
          </a:p>
          <a:p>
            <a:pPr>
              <a:defRPr sz="1000">
                <a:solidFill>
                  <a:srgbClr val="1E293B"/>
                </a:solidFill>
                <a:latin typeface="Segoe UI"/>
              </a:defRPr>
            </a:pPr>
            <a:r>
              <a:t>Ùn tắc nghiêm trọng tại quầy thu ngân giờ cao điểm sáng (07:30 - 08:30); dồn ứ bill giấy in nhiệt và tỷ lệ sai lệch khẩu vị do ồn.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E293B"/>
                </a:solidFill>
                <a:latin typeface="Segoe UI"/>
              </a:defRPr>
            </a:pPr>
            <a:r>
              <a:t>Kiến trúc 12 quy trình (Ngôi nhà Dumas)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1188720" cy="411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3870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981D23"/>
                </a:solidFill>
                <a:latin typeface="Segoe UI"/>
              </a:defRPr>
            </a:pPr>
            <a:r>
              <a:t>CHƯƠNG 1: KIẾN TRÚC QUY TRÌNH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>
                <a:solidFill>
                  <a:srgbClr val="64748B"/>
                </a:solidFill>
                <a:latin typeface="Segoe UI"/>
              </a:defRPr>
            </a:pPr>
            <a:r>
              <a:t>4 / 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0728655" cy="502920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ocess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7166" y="1298448"/>
            <a:ext cx="9457361" cy="48097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E293B"/>
                </a:solidFill>
                <a:latin typeface="Segoe UI"/>
              </a:defRPr>
            </a:pPr>
            <a:r>
              <a:t>Danh mục 12 quy trình &amp; Phạm vi BPMN 2.0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1188720" cy="411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3870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981D23"/>
                </a:solidFill>
                <a:latin typeface="Segoe UI"/>
              </a:defRPr>
            </a:pPr>
            <a:r>
              <a:t>CHƯƠNG 1: DANH MỤC QUY TRÌNH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>
                <a:solidFill>
                  <a:srgbClr val="64748B"/>
                </a:solidFill>
                <a:latin typeface="Segoe UI"/>
              </a:defRPr>
            </a:pPr>
            <a:r>
              <a:t>5 / 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338328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188720"/>
            <a:ext cx="3383280" cy="402336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🏛️ QUY TRÌNH QUẢN LÝ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45920"/>
            <a:ext cx="3163824" cy="768096"/>
          </a:xfrm>
          <a:prstGeom prst="rect">
            <a:avLst/>
          </a:prstGeom>
          <a:solidFill>
            <a:srgbClr val="F8FAFC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719072"/>
            <a:ext cx="309067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293B"/>
                </a:solidFill>
                <a:latin typeface="Segoe UI"/>
              </a:defRPr>
            </a:pPr>
            <a:r>
              <a:t>【P00】 Chiến lược &amp; Cung ứng</a:t>
            </a:r>
          </a:p>
          <a:p>
            <a:pPr>
              <a:defRPr sz="900" b="0">
                <a:solidFill>
                  <a:srgbClr val="64748B"/>
                </a:solidFill>
                <a:latin typeface="Segoe UI"/>
              </a:defRPr>
            </a:pPr>
            <a:r>
              <a:t>└ Định hướng Chuỗi Cung ứng Tập đoàn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2487168"/>
            <a:ext cx="3163824" cy="768096"/>
          </a:xfrm>
          <a:prstGeom prst="rect">
            <a:avLst/>
          </a:prstGeom>
          <a:solidFill>
            <a:srgbClr val="FEF2F2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2560320"/>
            <a:ext cx="309067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293B"/>
                </a:solidFill>
                <a:latin typeface="Segoe UI"/>
              </a:defRPr>
            </a:pPr>
            <a:r>
              <a:t>【P01】 Khảo sát Mặt bằng</a:t>
            </a:r>
          </a:p>
          <a:p>
            <a:pPr>
              <a:defRPr sz="900" b="1">
                <a:solidFill>
                  <a:srgbClr val="981D23"/>
                </a:solidFill>
                <a:latin typeface="Segoe UI"/>
              </a:defRPr>
            </a:pPr>
            <a:r>
              <a:t>└ ★ Mô hình hóa BPMN 2.0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" y="3328416"/>
            <a:ext cx="3163824" cy="768096"/>
          </a:xfrm>
          <a:prstGeom prst="rect">
            <a:avLst/>
          </a:prstGeom>
          <a:solidFill>
            <a:srgbClr val="FEF2F2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" y="3401568"/>
            <a:ext cx="309067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293B"/>
                </a:solidFill>
                <a:latin typeface="Segoe UI"/>
              </a:defRPr>
            </a:pPr>
            <a:r>
              <a:t>【P02】 Kiểm soát ATVSTP</a:t>
            </a:r>
          </a:p>
          <a:p>
            <a:pPr>
              <a:defRPr sz="900" b="1">
                <a:solidFill>
                  <a:srgbClr val="981D23"/>
                </a:solidFill>
                <a:latin typeface="Segoe UI"/>
              </a:defRPr>
            </a:pPr>
            <a:r>
              <a:t>└ ★ Mô hình hóa BPMN 2.0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" y="4169664"/>
            <a:ext cx="3163824" cy="768096"/>
          </a:xfrm>
          <a:prstGeom prst="rect">
            <a:avLst/>
          </a:prstGeom>
          <a:solidFill>
            <a:srgbClr val="F8FAFC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" y="4242816"/>
            <a:ext cx="309067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293B"/>
                </a:solidFill>
                <a:latin typeface="Segoe UI"/>
              </a:defRPr>
            </a:pPr>
            <a:r>
              <a:t>【P03】 Kế hoạch Tài chính</a:t>
            </a:r>
          </a:p>
          <a:p>
            <a:pPr>
              <a:defRPr sz="900" b="0">
                <a:solidFill>
                  <a:srgbClr val="64748B"/>
                </a:solidFill>
                <a:latin typeface="Segoe UI"/>
              </a:defRPr>
            </a:pPr>
            <a:r>
              <a:t>└ Hoạch định Ngân sách &amp; Dòng tiền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" y="5010912"/>
            <a:ext cx="3163824" cy="914400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5084064"/>
            <a:ext cx="309067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💡 Định hướng chiến lược, chuẩn hóa kiểm soát chuỗi và phân bổ nguồn lực tài chính cấp tập đoàn.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98264" y="1188720"/>
            <a:ext cx="338328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98264" y="1188720"/>
            <a:ext cx="3383280" cy="40233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⚡ QUY TRÌNH CỐT LÕI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07992" y="1645920"/>
            <a:ext cx="3163824" cy="768096"/>
          </a:xfrm>
          <a:prstGeom prst="rect">
            <a:avLst/>
          </a:prstGeom>
          <a:solidFill>
            <a:srgbClr val="FEF2F2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44568" y="1719072"/>
            <a:ext cx="309067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293B"/>
                </a:solidFill>
                <a:latin typeface="Segoe UI"/>
              </a:defRPr>
            </a:pPr>
            <a:r>
              <a:t>【P04】 Bán Hàng Quầy</a:t>
            </a:r>
          </a:p>
          <a:p>
            <a:pPr>
              <a:defRPr sz="900" b="1">
                <a:solidFill>
                  <a:srgbClr val="981D23"/>
                </a:solidFill>
                <a:latin typeface="Segoe UI"/>
              </a:defRPr>
            </a:pPr>
            <a:r>
              <a:t>└ ★ Trọng tâm As-Is &amp; To-Be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07992" y="2487168"/>
            <a:ext cx="3163824" cy="768096"/>
          </a:xfrm>
          <a:prstGeom prst="rect">
            <a:avLst/>
          </a:prstGeom>
          <a:solidFill>
            <a:srgbClr val="FEF2F2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44568" y="2560320"/>
            <a:ext cx="309067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293B"/>
                </a:solidFill>
                <a:latin typeface="Segoe UI"/>
              </a:defRPr>
            </a:pPr>
            <a:r>
              <a:t>【P05】 Highlands Rewards</a:t>
            </a:r>
          </a:p>
          <a:p>
            <a:pPr>
              <a:defRPr sz="900" b="1">
                <a:solidFill>
                  <a:srgbClr val="981D23"/>
                </a:solidFill>
                <a:latin typeface="Segoe UI"/>
              </a:defRPr>
            </a:pPr>
            <a:r>
              <a:t>└ ★ Mô hình hóa BPMN 2.0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07992" y="3328416"/>
            <a:ext cx="3163824" cy="768096"/>
          </a:xfrm>
          <a:prstGeom prst="rect">
            <a:avLst/>
          </a:prstGeom>
          <a:solidFill>
            <a:srgbClr val="F8FAFC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44568" y="3401568"/>
            <a:ext cx="309067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293B"/>
                </a:solidFill>
                <a:latin typeface="Segoe UI"/>
              </a:defRPr>
            </a:pPr>
            <a:r>
              <a:t>【P06】 Delivery Online</a:t>
            </a:r>
          </a:p>
          <a:p>
            <a:pPr>
              <a:defRPr sz="900" b="0">
                <a:solidFill>
                  <a:srgbClr val="64748B"/>
                </a:solidFill>
                <a:latin typeface="Segoe UI"/>
              </a:defRPr>
            </a:pPr>
            <a:r>
              <a:t>└ Tích hợp POS &amp; Đối tác Grab/Shopee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07992" y="4169664"/>
            <a:ext cx="3163824" cy="768096"/>
          </a:xfrm>
          <a:prstGeom prst="rect">
            <a:avLst/>
          </a:prstGeom>
          <a:solidFill>
            <a:srgbClr val="F8FAFC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44568" y="4242816"/>
            <a:ext cx="309067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293B"/>
                </a:solidFill>
                <a:latin typeface="Segoe UI"/>
              </a:defRPr>
            </a:pPr>
            <a:r>
              <a:t>【P07】 Xử lý Khiếu nại</a:t>
            </a:r>
          </a:p>
          <a:p>
            <a:pPr>
              <a:defRPr sz="900" b="0">
                <a:solidFill>
                  <a:srgbClr val="64748B"/>
                </a:solidFill>
                <a:latin typeface="Segoe UI"/>
              </a:defRPr>
            </a:pPr>
            <a:r>
              <a:t>└ Trung tâm CSKH &amp; Tiếp nhận Hotline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07992" y="5010912"/>
            <a:ext cx="3163824" cy="768096"/>
          </a:xfrm>
          <a:prstGeom prst="rect">
            <a:avLst/>
          </a:prstGeom>
          <a:solidFill>
            <a:srgbClr val="FEF2F2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44568" y="5084064"/>
            <a:ext cx="309067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293B"/>
                </a:solidFill>
                <a:latin typeface="Segoe UI"/>
              </a:defRPr>
            </a:pPr>
            <a:r>
              <a:t>【P08】 Cung ứng Nguyên liệu</a:t>
            </a:r>
          </a:p>
          <a:p>
            <a:pPr>
              <a:defRPr sz="900" b="1">
                <a:solidFill>
                  <a:srgbClr val="981D23"/>
                </a:solidFill>
                <a:latin typeface="Segoe UI"/>
              </a:defRPr>
            </a:pPr>
            <a:r>
              <a:t>└ ★ Mô hình hóa BPMN 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65008" y="1188720"/>
            <a:ext cx="338328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65008" y="1188720"/>
            <a:ext cx="3383280" cy="40233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🛠️ QUY TRÌNH HỖ TRỢ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74736" y="1645920"/>
            <a:ext cx="3163824" cy="768096"/>
          </a:xfrm>
          <a:prstGeom prst="rect">
            <a:avLst/>
          </a:prstGeom>
          <a:solidFill>
            <a:srgbClr val="FEF2F2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11312" y="1719072"/>
            <a:ext cx="309067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293B"/>
                </a:solidFill>
                <a:latin typeface="Segoe UI"/>
              </a:defRPr>
            </a:pPr>
            <a:r>
              <a:t>【P09】 Đào tạo Barista SOP</a:t>
            </a:r>
          </a:p>
          <a:p>
            <a:pPr>
              <a:defRPr sz="900" b="1">
                <a:solidFill>
                  <a:srgbClr val="981D23"/>
                </a:solidFill>
                <a:latin typeface="Segoe UI"/>
              </a:defRPr>
            </a:pPr>
            <a:r>
              <a:t>└ ★ Mô hình hóa BPMN 2.0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74736" y="2487168"/>
            <a:ext cx="3163824" cy="768096"/>
          </a:xfrm>
          <a:prstGeom prst="rect">
            <a:avLst/>
          </a:prstGeom>
          <a:solidFill>
            <a:srgbClr val="FEF2F2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11312" y="2560320"/>
            <a:ext cx="309067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293B"/>
                </a:solidFill>
                <a:latin typeface="Segoe UI"/>
              </a:defRPr>
            </a:pPr>
            <a:r>
              <a:t>【P10】 Bảo trì Máy Pha Cà phê</a:t>
            </a:r>
          </a:p>
          <a:p>
            <a:pPr>
              <a:defRPr sz="900" b="1">
                <a:solidFill>
                  <a:srgbClr val="981D23"/>
                </a:solidFill>
                <a:latin typeface="Segoe UI"/>
              </a:defRPr>
            </a:pPr>
            <a:r>
              <a:t>└ ★ Mô hình hóa BPMN 2.0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74736" y="3328416"/>
            <a:ext cx="3163824" cy="768096"/>
          </a:xfrm>
          <a:prstGeom prst="rect">
            <a:avLst/>
          </a:prstGeom>
          <a:solidFill>
            <a:srgbClr val="F8FAFC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11312" y="3401568"/>
            <a:ext cx="309067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293B"/>
                </a:solidFill>
                <a:latin typeface="Segoe UI"/>
              </a:defRPr>
            </a:pPr>
            <a:r>
              <a:t>【P11】 Kế toán Thanh toán Ca</a:t>
            </a:r>
          </a:p>
          <a:p>
            <a:pPr>
              <a:defRPr sz="900" b="0">
                <a:solidFill>
                  <a:srgbClr val="64748B"/>
                </a:solidFill>
                <a:latin typeface="Segoe UI"/>
              </a:defRPr>
            </a:pPr>
            <a:r>
              <a:t>└ Đối soát Doanh thu &amp; Chốt Két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74736" y="4169664"/>
            <a:ext cx="3163824" cy="1755648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11312" y="4242816"/>
            <a:ext cx="3090672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💡 Đảm bảo chuẩn hóa năng lực Barista SOP, bảo dưỡng thiết bị quầy bar và thanh quyết toán ca chính xác.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E293B"/>
                </a:solidFill>
                <a:latin typeface="Segoe UI"/>
              </a:defRPr>
            </a:pPr>
            <a:r>
              <a:t>BPMN 2.0 P01: Khảo sát &amp; Phê duyệt mặt bằng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1188720" cy="411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3870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981D23"/>
                </a:solidFill>
                <a:latin typeface="Segoe UI"/>
              </a:defRPr>
            </a:pPr>
            <a:r>
              <a:t>CHƯƠNG 1: QUY TRÌNH QUẢN LÝ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>
                <a:solidFill>
                  <a:srgbClr val="64748B"/>
                </a:solidFill>
                <a:latin typeface="Segoe UI"/>
              </a:defRPr>
            </a:pPr>
            <a:r>
              <a:t>6 / 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0728655" cy="502920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pmn_p01_phe_duyet_mat_ba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825322"/>
            <a:ext cx="10509199" cy="375599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E293B"/>
                </a:solidFill>
                <a:latin typeface="Segoe UI"/>
              </a:defRPr>
            </a:pPr>
            <a:r>
              <a:t>BPMN 2.0 P02: Kiểm soát ATVSTP &amp; Audit quán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1188720" cy="411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3870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981D23"/>
                </a:solidFill>
                <a:latin typeface="Segoe UI"/>
              </a:defRPr>
            </a:pPr>
            <a:r>
              <a:t>CHƯƠNG 1: QUY TRÌNH QUẢN LÝ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>
                <a:solidFill>
                  <a:srgbClr val="64748B"/>
                </a:solidFill>
                <a:latin typeface="Segoe UI"/>
              </a:defRPr>
            </a:pPr>
            <a:r>
              <a:t>7 / 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0728655" cy="502920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pmn_p02_kiem_tra_atvs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971" y="1298448"/>
            <a:ext cx="10065752" cy="48097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E293B"/>
                </a:solidFill>
                <a:latin typeface="Segoe UI"/>
              </a:defRPr>
            </a:pPr>
            <a:r>
              <a:t>BPMN 2.0 P05: Hội viên &amp; Tích điểm Rewards đa kênh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1188720" cy="411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3870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981D23"/>
                </a:solidFill>
                <a:latin typeface="Segoe UI"/>
              </a:defRPr>
            </a:pPr>
            <a:r>
              <a:t>CHƯƠNG 1: QUY TRÌNH CỐT LÕI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>
                <a:solidFill>
                  <a:srgbClr val="64748B"/>
                </a:solidFill>
                <a:latin typeface="Segoe UI"/>
              </a:defRPr>
            </a:pPr>
            <a:r>
              <a:t>8 / 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0728655" cy="502920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pmn_p05_hoi_vien_rew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299092"/>
            <a:ext cx="10509199" cy="48084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E293B"/>
                </a:solidFill>
                <a:latin typeface="Segoe UI"/>
              </a:defRPr>
            </a:pPr>
            <a:r>
              <a:t>BPMN 2.0 P08: Cung ứng &amp; Mua sắm nguyên liệu tươi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1188720" cy="411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3870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981D23"/>
                </a:solidFill>
                <a:latin typeface="Segoe UI"/>
              </a:defRPr>
            </a:pPr>
            <a:r>
              <a:t>CHƯƠNG 1: QUY TRÌNH CỐT LÕI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>
                <a:solidFill>
                  <a:srgbClr val="64748B"/>
                </a:solidFill>
                <a:latin typeface="Segoe UI"/>
              </a:defRPr>
            </a:pPr>
            <a:r>
              <a:t>9 / 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0728655" cy="502920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pmn_p08_cung_ung_nguyen_lie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551559"/>
            <a:ext cx="10509199" cy="430352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E293B"/>
                </a:solidFill>
                <a:latin typeface="Segoe UI"/>
              </a:defRPr>
            </a:pPr>
            <a:r>
              <a:t>BPMN 2.0 P09: Tuyển dụng &amp; Đào tạo Barista SOP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1188720" cy="411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3870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981D23"/>
                </a:solidFill>
                <a:latin typeface="Segoe UI"/>
              </a:defRPr>
            </a:pPr>
            <a:r>
              <a:t>CHƯƠNG 1: QUY TRÌNH HỖ TRỢ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>
                <a:solidFill>
                  <a:srgbClr val="64748B"/>
                </a:solidFill>
                <a:latin typeface="Segoe UI"/>
              </a:defRPr>
            </a:pPr>
            <a:r>
              <a:t>10 / 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0728655" cy="502920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pmn_p09_tuyen_dung_bari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675" y="1298448"/>
            <a:ext cx="8872343" cy="480974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E293B"/>
                </a:solidFill>
                <a:latin typeface="Segoe UI"/>
              </a:defRPr>
            </a:pPr>
            <a:r>
              <a:t>BPMN 2.0 P10: Bảo trì &amp; Hiệu chuẩn máy pha cà phê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1188720" cy="411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3870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981D23"/>
                </a:solidFill>
                <a:latin typeface="Segoe UI"/>
              </a:defRPr>
            </a:pPr>
            <a:r>
              <a:t>CHƯƠNG 1: QUY TRÌNH HỖ TRỢ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>
                <a:solidFill>
                  <a:srgbClr val="64748B"/>
                </a:solidFill>
                <a:latin typeface="Segoe UI"/>
              </a:defRPr>
            </a:pPr>
            <a:r>
              <a:t>11 / 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0728655" cy="502920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pmn_p10_bao_tri_may_p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954658"/>
            <a:ext cx="10509199" cy="349732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E293B"/>
                </a:solidFill>
                <a:latin typeface="Segoe UI"/>
              </a:defRPr>
            </a:pPr>
            <a:r>
              <a:t>Phương pháp khám phá quy trình (Discovery)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1188720" cy="411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3870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981D23"/>
                </a:solidFill>
                <a:latin typeface="Segoe UI"/>
              </a:defRPr>
            </a:pPr>
            <a:r>
              <a:t>CHƯƠNG 2: PROCESS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>
                <a:solidFill>
                  <a:srgbClr val="64748B"/>
                </a:solidFill>
                <a:latin typeface="Segoe UI"/>
              </a:defRPr>
            </a:pPr>
            <a:r>
              <a:t>12 / 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393192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188720"/>
            <a:ext cx="54864" cy="1481328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298448"/>
            <a:ext cx="365760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981D23"/>
                </a:solidFill>
                <a:latin typeface="Segoe UI"/>
              </a:defRPr>
            </a:pPr>
            <a:r>
              <a:t>Quan sát thực địa &amp; Time Study</a:t>
            </a:r>
          </a:p>
          <a:p>
            <a:pPr>
              <a:defRPr sz="950">
                <a:solidFill>
                  <a:srgbClr val="1E293B"/>
                </a:solidFill>
                <a:latin typeface="Segoe UI"/>
              </a:defRPr>
            </a:pPr>
            <a:r>
              <a:t>Khảo sát trực tiếp N = 120 chu kỳ phục vụ tại 3 cửa hàng TP.HCM; đo đạc chính xác thời gian từng thao tác quầy.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871216"/>
            <a:ext cx="393192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871216"/>
            <a:ext cx="54864" cy="14813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2980944"/>
            <a:ext cx="365760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D97706"/>
                </a:solidFill>
                <a:latin typeface="Segoe UI"/>
              </a:defRPr>
            </a:pPr>
            <a:r>
              <a:t>Nghiên cứu tài liệu &amp; Biểu mẫu SOP</a:t>
            </a:r>
          </a:p>
          <a:p>
            <a:pPr>
              <a:defRPr sz="950">
                <a:solidFill>
                  <a:srgbClr val="1E293B"/>
                </a:solidFill>
                <a:latin typeface="Segoe UI"/>
              </a:defRPr>
            </a:pPr>
            <a:r>
              <a:t>Bóc tách Sổ tay pha chế chuẩn SOP quầy bar (Phin Sữa Đá, Trà Sen Vàng) và biểu mẫu đối soát ca.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553712"/>
            <a:ext cx="393192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553712"/>
            <a:ext cx="54864" cy="1481328"/>
          </a:xfrm>
          <a:prstGeom prst="rect">
            <a:avLst/>
          </a:prstGeom>
          <a:solidFill>
            <a:srgbClr val="109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4663440"/>
            <a:ext cx="365760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10955D"/>
                </a:solidFill>
                <a:latin typeface="Segoe UI"/>
              </a:defRPr>
            </a:pPr>
            <a:r>
              <a:t>Phỏng vấn chuyên sâu 12 nhân sự</a:t>
            </a:r>
          </a:p>
          <a:p>
            <a:pPr>
              <a:defRPr sz="950">
                <a:solidFill>
                  <a:srgbClr val="1E293B"/>
                </a:solidFill>
                <a:latin typeface="Segoe UI"/>
              </a:defRPr>
            </a:pPr>
            <a:r>
              <a:t>Phỏng vấn Store Manager, Barista và Thu ngân qua bộ câu hỏi 10 Định tính + 10 Định lượng chuẩn IE203.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92040" y="1188720"/>
            <a:ext cx="6568135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o_do_co_cau_to_ch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2110853"/>
            <a:ext cx="6385255" cy="300205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E293B"/>
                </a:solidFill>
                <a:latin typeface="Segoe UI"/>
              </a:defRPr>
            </a:pPr>
            <a:r>
              <a:t>Bộ câu hỏi phỏng vấn thực địa quy trình P04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1188720" cy="411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3870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981D23"/>
                </a:solidFill>
                <a:latin typeface="Segoe UI"/>
              </a:defRPr>
            </a:pPr>
            <a:r>
              <a:t>CHƯƠNG 2: PHỎNG VẤN THỰC ĐỊA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>
                <a:solidFill>
                  <a:srgbClr val="64748B"/>
                </a:solidFill>
                <a:latin typeface="Segoe UI"/>
              </a:defRPr>
            </a:pPr>
            <a:r>
              <a:t>13 / 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5212080" cy="232257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188720"/>
            <a:ext cx="5212080" cy="329184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📌 5 CÂU HỎI ĐỊNH TÍNH CÓ CẤU TRÚC (STRUCTURED)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1554480"/>
            <a:ext cx="4956048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50"/>
              </a:spcAft>
              <a:defRPr sz="819" b="1">
                <a:solidFill>
                  <a:srgbClr val="1E293B"/>
                </a:solidFill>
                <a:latin typeface="Segoe UI"/>
              </a:defRPr>
            </a:pPr>
            <a:r>
              <a:t>• 1. Trình tự tiếp nhận order tại quầy?</a:t>
            </a:r>
            <a:br/>
            <a:r>
              <a:rPr sz="800" b="1">
                <a:solidFill>
                  <a:srgbClr val="981D23"/>
                </a:solidFill>
                <a:latin typeface="Segoe UI"/>
              </a:rPr>
              <a:t>  ↳ TL: </a:t>
            </a:r>
            <a:r>
              <a:rPr sz="800" b="0">
                <a:solidFill>
                  <a:srgbClr val="1E293B"/>
                </a:solidFill>
                <a:latin typeface="Segoe UI"/>
              </a:rPr>
              <a:t>Chào khách ➔ Tư vấn size/món ➔ Nhập POS ➔ Báo tiền.</a:t>
            </a:r>
          </a:p>
          <a:p>
            <a:pPr>
              <a:spcAft>
                <a:spcPts val="250"/>
              </a:spcAft>
              <a:defRPr sz="819" b="1">
                <a:solidFill>
                  <a:srgbClr val="1E293B"/>
                </a:solidFill>
                <a:latin typeface="Segoe UI"/>
              </a:defRPr>
            </a:pPr>
            <a:r>
              <a:t>• 2. Xử lý khi khách phản ánh sai vị/ngọt?</a:t>
            </a:r>
            <a:br/>
            <a:r>
              <a:rPr sz="800" b="1">
                <a:solidFill>
                  <a:srgbClr val="981D23"/>
                </a:solidFill>
                <a:latin typeface="Segoe UI"/>
              </a:rPr>
              <a:t>  ↳ TL: </a:t>
            </a:r>
            <a:r>
              <a:rPr sz="800" b="0">
                <a:solidFill>
                  <a:srgbClr val="1E293B"/>
                </a:solidFill>
                <a:latin typeface="Segoe UI"/>
              </a:rPr>
              <a:t>Xin lỗi khách, thu hồi ly lỗi, pha lại ly mới ngay.</a:t>
            </a:r>
          </a:p>
          <a:p>
            <a:pPr>
              <a:spcAft>
                <a:spcPts val="250"/>
              </a:spcAft>
              <a:defRPr sz="819" b="1">
                <a:solidFill>
                  <a:srgbClr val="1E293B"/>
                </a:solidFill>
                <a:latin typeface="Segoe UI"/>
              </a:defRPr>
            </a:pPr>
            <a:r>
              <a:t>• 3. Tiêu chí kiểm tra cảm quan SOP?</a:t>
            </a:r>
            <a:br/>
            <a:r>
              <a:rPr sz="800" b="1">
                <a:solidFill>
                  <a:srgbClr val="981D23"/>
                </a:solidFill>
                <a:latin typeface="Segoe UI"/>
              </a:rPr>
              <a:t>  ↳ TL: </a:t>
            </a:r>
            <a:r>
              <a:rPr sz="800" b="0">
                <a:solidFill>
                  <a:srgbClr val="1E293B"/>
                </a:solidFill>
                <a:latin typeface="Segoe UI"/>
              </a:rPr>
              <a:t>Độ đầy cách miệng 1cm, kem đứng chuẩn, đúng topping.</a:t>
            </a:r>
          </a:p>
          <a:p>
            <a:pPr>
              <a:spcAft>
                <a:spcPts val="250"/>
              </a:spcAft>
              <a:defRPr sz="819" b="1">
                <a:solidFill>
                  <a:srgbClr val="1E293B"/>
                </a:solidFill>
                <a:latin typeface="Segoe UI"/>
              </a:defRPr>
            </a:pPr>
            <a:r>
              <a:t>• 4. Quy trình bấm thẻ rung Pager có sự cố?</a:t>
            </a:r>
            <a:br/>
            <a:r>
              <a:rPr sz="800" b="1">
                <a:solidFill>
                  <a:srgbClr val="981D23"/>
                </a:solidFill>
                <a:latin typeface="Segoe UI"/>
              </a:rPr>
              <a:t>  ↳ TL: </a:t>
            </a:r>
            <a:r>
              <a:rPr sz="800" b="0">
                <a:solidFill>
                  <a:srgbClr val="1E293B"/>
                </a:solidFill>
                <a:latin typeface="Segoe UI"/>
              </a:rPr>
              <a:t>Bấm nhầm số thẻ; khách ngồi góc khuất tầng lầu mất sóng.</a:t>
            </a:r>
          </a:p>
          <a:p>
            <a:pPr>
              <a:spcAft>
                <a:spcPts val="250"/>
              </a:spcAft>
              <a:defRPr sz="819" b="1">
                <a:solidFill>
                  <a:srgbClr val="1E293B"/>
                </a:solidFill>
                <a:latin typeface="Segoe UI"/>
              </a:defRPr>
            </a:pPr>
            <a:r>
              <a:t>• 5. Nhận biết nguyên liệu sắp hết trong ca?</a:t>
            </a:r>
            <a:br/>
            <a:r>
              <a:rPr sz="800" b="1">
                <a:solidFill>
                  <a:srgbClr val="981D23"/>
                </a:solidFill>
                <a:latin typeface="Segoe UI"/>
              </a:rPr>
              <a:t>  ↳ TL: </a:t>
            </a:r>
            <a:r>
              <a:rPr sz="800" b="0">
                <a:solidFill>
                  <a:srgbClr val="1E293B"/>
                </a:solidFill>
                <a:latin typeface="Segoe UI"/>
              </a:rPr>
              <a:t>Quan sát trực quan; Barista hét to qua quầy báo thu ngân.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712464"/>
            <a:ext cx="5212080" cy="232257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712464"/>
            <a:ext cx="5212080" cy="329184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💬 5 CÂU HỎI ĐỊNH TÍNH PHI CẤU TRÚC (UNSTRUCTURED)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4078224"/>
            <a:ext cx="4956048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50"/>
              </a:spcAft>
              <a:defRPr sz="819" b="1">
                <a:solidFill>
                  <a:srgbClr val="1E293B"/>
                </a:solidFill>
                <a:latin typeface="Segoe UI"/>
              </a:defRPr>
            </a:pPr>
            <a:r>
              <a:t>• 6. Nguyên nhân chính gây nghẽn quầy order?</a:t>
            </a:r>
            <a:br/>
            <a:r>
              <a:rPr sz="800" b="1">
                <a:solidFill>
                  <a:srgbClr val="981D23"/>
                </a:solidFill>
                <a:latin typeface="Segoe UI"/>
              </a:rPr>
              <a:t>  ↳ TL: </a:t>
            </a:r>
            <a:r>
              <a:rPr sz="800" b="0">
                <a:solidFill>
                  <a:srgbClr val="1E293B"/>
                </a:solidFill>
                <a:latin typeface="Segoe UI"/>
              </a:rPr>
              <a:t>Khách phân vân chọn món; lỗi mạng chuyển khoản/QR.</a:t>
            </a:r>
          </a:p>
          <a:p>
            <a:pPr>
              <a:spcAft>
                <a:spcPts val="250"/>
              </a:spcAft>
              <a:defRPr sz="819" b="1">
                <a:solidFill>
                  <a:srgbClr val="1E293B"/>
                </a:solidFill>
                <a:latin typeface="Segoe UI"/>
              </a:defRPr>
            </a:pPr>
            <a:r>
              <a:t>• 7. Khó khăn khi truyền phiếu bill giấy?</a:t>
            </a:r>
            <a:br/>
            <a:r>
              <a:rPr sz="800" b="1">
                <a:solidFill>
                  <a:srgbClr val="981D23"/>
                </a:solidFill>
                <a:latin typeface="Segoe UI"/>
              </a:rPr>
              <a:t>  ↳ TL: </a:t>
            </a:r>
            <a:r>
              <a:rPr sz="800" b="0">
                <a:solidFill>
                  <a:srgbClr val="1E293B"/>
                </a:solidFill>
                <a:latin typeface="Segoe UI"/>
              </a:rPr>
              <a:t>Dễ bị ướt rách, bay mất, lẫn lộn thứ tự phục vụ.</a:t>
            </a:r>
          </a:p>
          <a:p>
            <a:pPr>
              <a:spcAft>
                <a:spcPts val="250"/>
              </a:spcAft>
              <a:defRPr sz="819" b="1">
                <a:solidFill>
                  <a:srgbClr val="1E293B"/>
                </a:solidFill>
                <a:latin typeface="Segoe UI"/>
              </a:defRPr>
            </a:pPr>
            <a:r>
              <a:t>• 8. Áp lực lớn nhất của Barista giờ cao điểm?</a:t>
            </a:r>
            <a:br/>
            <a:r>
              <a:rPr sz="800" b="1">
                <a:solidFill>
                  <a:srgbClr val="981D23"/>
                </a:solidFill>
                <a:latin typeface="Segoe UI"/>
              </a:rPr>
              <a:t>  ↳ TL: </a:t>
            </a:r>
            <a:r>
              <a:rPr sz="800" b="0">
                <a:solidFill>
                  <a:srgbClr val="1E293B"/>
                </a:solidFill>
                <a:latin typeface="Segoe UI"/>
              </a:rPr>
              <a:t>Tiếng ồn máy xay lớn, khách vây quanh quầy hối thúc.</a:t>
            </a:r>
          </a:p>
          <a:p>
            <a:pPr>
              <a:spcAft>
                <a:spcPts val="250"/>
              </a:spcAft>
              <a:defRPr sz="819" b="1">
                <a:solidFill>
                  <a:srgbClr val="1E293B"/>
                </a:solidFill>
                <a:latin typeface="Segoe UI"/>
              </a:defRPr>
            </a:pPr>
            <a:r>
              <a:t>• 9. Phản ứng thực tế của khách khi chờ &gt; 12p?</a:t>
            </a:r>
            <a:br/>
            <a:r>
              <a:rPr sz="800" b="1">
                <a:solidFill>
                  <a:srgbClr val="981D23"/>
                </a:solidFill>
                <a:latin typeface="Segoe UI"/>
              </a:rPr>
              <a:t>  ↳ TL: </a:t>
            </a:r>
            <a:r>
              <a:rPr sz="800" b="0">
                <a:solidFill>
                  <a:srgbClr val="1E293B"/>
                </a:solidFill>
                <a:latin typeface="Segoe UI"/>
              </a:rPr>
              <a:t>Xem đồng hồ sốt ruột; ~8.5% khách bỏ đi nơi khác.</a:t>
            </a:r>
          </a:p>
          <a:p>
            <a:pPr>
              <a:spcAft>
                <a:spcPts val="250"/>
              </a:spcAft>
              <a:defRPr sz="819" b="1">
                <a:solidFill>
                  <a:srgbClr val="1E293B"/>
                </a:solidFill>
                <a:latin typeface="Segoe UI"/>
              </a:defRPr>
            </a:pPr>
            <a:r>
              <a:t>• 10. Giải pháp mong muốn nhất để giảm tải ca?</a:t>
            </a:r>
            <a:br/>
            <a:r>
              <a:rPr sz="800" b="1">
                <a:solidFill>
                  <a:srgbClr val="981D23"/>
                </a:solidFill>
                <a:latin typeface="Segoe UI"/>
              </a:rPr>
              <a:t>  ↳ TL: </a:t>
            </a:r>
            <a:r>
              <a:rPr sz="800" b="0">
                <a:solidFill>
                  <a:srgbClr val="1E293B"/>
                </a:solidFill>
                <a:latin typeface="Segoe UI"/>
              </a:rPr>
              <a:t>Màn hình KDS tự động thay bill giấy &amp; Kiosk tự phục vụ.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352" y="1188720"/>
            <a:ext cx="5212080" cy="232257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2" y="1188720"/>
            <a:ext cx="5212080" cy="329184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📊 5 CÂU HỎI ĐỊNH LƯỢNG CÓ CẤU TRÚC (STRUCTURED)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1554480"/>
            <a:ext cx="4956048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50"/>
              </a:spcAft>
              <a:defRPr sz="819" b="1">
                <a:solidFill>
                  <a:srgbClr val="1E293B"/>
                </a:solidFill>
                <a:latin typeface="Segoe UI"/>
              </a:defRPr>
            </a:pPr>
            <a:r>
              <a:t>• 1. Thời gian thu ngân order và thanh toán 1 đơn?</a:t>
            </a:r>
            <a:br/>
            <a:r>
              <a:rPr sz="800" b="1">
                <a:solidFill>
                  <a:srgbClr val="981D23"/>
                </a:solidFill>
                <a:latin typeface="Segoe UI"/>
              </a:rPr>
              <a:t>  ↳ Kết quả: </a:t>
            </a:r>
            <a:r>
              <a:rPr sz="800" b="0">
                <a:solidFill>
                  <a:srgbClr val="1E293B"/>
                </a:solidFill>
                <a:latin typeface="Segoe UI"/>
              </a:rPr>
              <a:t>75 – 90 giây / đơn hàng (Thu ngân)</a:t>
            </a:r>
          </a:p>
          <a:p>
            <a:pPr>
              <a:spcAft>
                <a:spcPts val="250"/>
              </a:spcAft>
              <a:defRPr sz="819" b="1">
                <a:solidFill>
                  <a:srgbClr val="1E293B"/>
                </a:solidFill>
                <a:latin typeface="Segoe UI"/>
              </a:defRPr>
            </a:pPr>
            <a:r>
              <a:t>• 2. Lưu lượng khách cao điểm sáng (07:30 - 08:30)?</a:t>
            </a:r>
            <a:br/>
            <a:r>
              <a:rPr sz="800" b="1">
                <a:solidFill>
                  <a:srgbClr val="981D23"/>
                </a:solidFill>
                <a:latin typeface="Segoe UI"/>
              </a:rPr>
              <a:t>  ↳ Kết quả: </a:t>
            </a:r>
            <a:r>
              <a:rPr sz="800" b="0">
                <a:solidFill>
                  <a:srgbClr val="1E293B"/>
                </a:solidFill>
                <a:latin typeface="Segoe UI"/>
              </a:rPr>
              <a:t>140 – 180 khách / giờ / quán</a:t>
            </a:r>
          </a:p>
          <a:p>
            <a:pPr>
              <a:spcAft>
                <a:spcPts val="250"/>
              </a:spcAft>
              <a:defRPr sz="819" b="1">
                <a:solidFill>
                  <a:srgbClr val="1E293B"/>
                </a:solidFill>
                <a:latin typeface="Segoe UI"/>
              </a:defRPr>
            </a:pPr>
            <a:r>
              <a:t>• 3. Thời gian khách xếp hàng chờ đến lượt gọi món?</a:t>
            </a:r>
            <a:br/>
            <a:r>
              <a:rPr sz="800" b="1">
                <a:solidFill>
                  <a:srgbClr val="981D23"/>
                </a:solidFill>
                <a:latin typeface="Segoe UI"/>
              </a:rPr>
              <a:t>  ↳ Kết quả: </a:t>
            </a:r>
            <a:r>
              <a:rPr sz="800" b="0">
                <a:solidFill>
                  <a:srgbClr val="1E293B"/>
                </a:solidFill>
                <a:latin typeface="Segoe UI"/>
              </a:rPr>
              <a:t>8.5 – 12.0 phút (Thời gian chu kỳ CT = 23.54p)</a:t>
            </a:r>
          </a:p>
          <a:p>
            <a:pPr>
              <a:spcAft>
                <a:spcPts val="250"/>
              </a:spcAft>
              <a:defRPr sz="819" b="1">
                <a:solidFill>
                  <a:srgbClr val="1E293B"/>
                </a:solidFill>
                <a:latin typeface="Segoe UI"/>
              </a:defRPr>
            </a:pPr>
            <a:r>
              <a:t>• 4. Thời gian Barista pha chế 1 ly Freeze/Trà?</a:t>
            </a:r>
            <a:br/>
            <a:r>
              <a:rPr sz="800" b="1">
                <a:solidFill>
                  <a:srgbClr val="981D23"/>
                </a:solidFill>
                <a:latin typeface="Segoe UI"/>
              </a:rPr>
              <a:t>  ↳ Kết quả: </a:t>
            </a:r>
            <a:r>
              <a:rPr sz="800" b="0">
                <a:solidFill>
                  <a:srgbClr val="1E293B"/>
                </a:solidFill>
                <a:latin typeface="Segoe UI"/>
              </a:rPr>
              <a:t>2.5 – 3.5 phút / ly đồ uống</a:t>
            </a:r>
          </a:p>
          <a:p>
            <a:pPr>
              <a:spcAft>
                <a:spcPts val="250"/>
              </a:spcAft>
              <a:defRPr sz="819" b="1">
                <a:solidFill>
                  <a:srgbClr val="1E293B"/>
                </a:solidFill>
                <a:latin typeface="Segoe UI"/>
              </a:defRPr>
            </a:pPr>
            <a:r>
              <a:t>• 5. Tỷ lệ đơn hàng bị sai món phải làm lại?</a:t>
            </a:r>
            <a:br/>
            <a:r>
              <a:rPr sz="800" b="1">
                <a:solidFill>
                  <a:srgbClr val="981D23"/>
                </a:solidFill>
                <a:latin typeface="Segoe UI"/>
              </a:rPr>
              <a:t>  ↳ Kết quả: </a:t>
            </a:r>
            <a:r>
              <a:rPr sz="800" b="0">
                <a:solidFill>
                  <a:srgbClr val="1E293B"/>
                </a:solidFill>
                <a:latin typeface="Segoe UI"/>
              </a:rPr>
              <a:t>r = 4.50% – 6.80% tổng đơn pha chế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5352" y="3712464"/>
            <a:ext cx="5212080" cy="232257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5352" y="3712464"/>
            <a:ext cx="5212080" cy="329184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⏱️ 5 CÂU HỎI ĐỊNH LƯỢNG PHI CẤU TRÚC (UNSTRUCTURED)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4078224"/>
            <a:ext cx="4956048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50"/>
              </a:spcAft>
              <a:defRPr sz="819" b="1">
                <a:solidFill>
                  <a:srgbClr val="1E293B"/>
                </a:solidFill>
                <a:latin typeface="Segoe UI"/>
              </a:defRPr>
            </a:pPr>
            <a:r>
              <a:t>• 6. Chi phí giấy in nhiệt bill &amp; thẻ rung hỏng/tháng?</a:t>
            </a:r>
            <a:br/>
            <a:r>
              <a:rPr sz="800" b="1">
                <a:solidFill>
                  <a:srgbClr val="981D23"/>
                </a:solidFill>
                <a:latin typeface="Segoe UI"/>
              </a:rPr>
              <a:t>  ↳ Kết quả: </a:t>
            </a:r>
            <a:r>
              <a:rPr sz="800" b="0">
                <a:solidFill>
                  <a:srgbClr val="1E293B"/>
                </a:solidFill>
                <a:latin typeface="Segoe UI"/>
              </a:rPr>
              <a:t>1.2 – 1.5 triệu VNĐ / quán / tháng</a:t>
            </a:r>
          </a:p>
          <a:p>
            <a:pPr>
              <a:spcAft>
                <a:spcPts val="250"/>
              </a:spcAft>
              <a:defRPr sz="819" b="1">
                <a:solidFill>
                  <a:srgbClr val="1E293B"/>
                </a:solidFill>
                <a:latin typeface="Segoe UI"/>
              </a:defRPr>
            </a:pPr>
            <a:r>
              <a:t>• 7. Tỷ lệ khách bỏ về do hàng đợi quá dài?</a:t>
            </a:r>
            <a:br/>
            <a:r>
              <a:rPr sz="800" b="1">
                <a:solidFill>
                  <a:srgbClr val="981D23"/>
                </a:solidFill>
                <a:latin typeface="Segoe UI"/>
              </a:rPr>
              <a:t>  ↳ Kết quả: </a:t>
            </a:r>
            <a:r>
              <a:rPr sz="800" b="0">
                <a:solidFill>
                  <a:srgbClr val="1E293B"/>
                </a:solidFill>
                <a:latin typeface="Segoe UI"/>
              </a:rPr>
              <a:t>8.50% lượt khách (Thiệt hại 42.5 tr/tháng)</a:t>
            </a:r>
          </a:p>
          <a:p>
            <a:pPr>
              <a:spcAft>
                <a:spcPts val="250"/>
              </a:spcAft>
              <a:defRPr sz="819" b="1">
                <a:solidFill>
                  <a:srgbClr val="1E293B"/>
                </a:solidFill>
                <a:latin typeface="Segoe UI"/>
              </a:defRPr>
            </a:pPr>
            <a:r>
              <a:t>• 8. Định mức chi phí nhân công phục vụ mỗi đơn?</a:t>
            </a:r>
            <a:br/>
            <a:r>
              <a:rPr sz="800" b="1">
                <a:solidFill>
                  <a:srgbClr val="981D23"/>
                </a:solidFill>
                <a:latin typeface="Segoe UI"/>
              </a:rPr>
              <a:t>  ↳ Kết quả: </a:t>
            </a:r>
            <a:r>
              <a:rPr sz="800" b="0">
                <a:solidFill>
                  <a:srgbClr val="1E293B"/>
                </a:solidFill>
                <a:latin typeface="Segoe UI"/>
              </a:rPr>
              <a:t>12.500 VNĐ / đơn hàng hoàn chỉnh</a:t>
            </a:r>
          </a:p>
          <a:p>
            <a:pPr>
              <a:spcAft>
                <a:spcPts val="250"/>
              </a:spcAft>
              <a:defRPr sz="819" b="1">
                <a:solidFill>
                  <a:srgbClr val="1E293B"/>
                </a:solidFill>
                <a:latin typeface="Segoe UI"/>
              </a:defRPr>
            </a:pPr>
            <a:r>
              <a:t>• 9. Tỷ lệ đơn hàng đạt chuẩn ngay lần đầu (FTR)?</a:t>
            </a:r>
            <a:br/>
            <a:r>
              <a:rPr sz="800" b="1">
                <a:solidFill>
                  <a:srgbClr val="981D23"/>
                </a:solidFill>
                <a:latin typeface="Segoe UI"/>
              </a:rPr>
              <a:t>  ↳ Kết quả: </a:t>
            </a:r>
            <a:r>
              <a:rPr sz="800" b="0">
                <a:solidFill>
                  <a:srgbClr val="1E293B"/>
                </a:solidFill>
                <a:latin typeface="Segoe UI"/>
              </a:rPr>
              <a:t>FTR = 95.5% (Mục tiêu To-Be: &gt; 99%)</a:t>
            </a:r>
          </a:p>
          <a:p>
            <a:pPr>
              <a:spcAft>
                <a:spcPts val="250"/>
              </a:spcAft>
              <a:defRPr sz="819" b="1">
                <a:solidFill>
                  <a:srgbClr val="1E293B"/>
                </a:solidFill>
                <a:latin typeface="Segoe UI"/>
              </a:defRPr>
            </a:pPr>
            <a:r>
              <a:t>• 10. Thời gian lãng phí chờ đợi (WT) trong chu kỳ?</a:t>
            </a:r>
            <a:br/>
            <a:r>
              <a:rPr sz="800" b="1">
                <a:solidFill>
                  <a:srgbClr val="981D23"/>
                </a:solidFill>
                <a:latin typeface="Segoe UI"/>
              </a:rPr>
              <a:t>  ↳ Kết quả: </a:t>
            </a:r>
            <a:r>
              <a:rPr sz="800" b="0">
                <a:solidFill>
                  <a:srgbClr val="1E293B"/>
                </a:solidFill>
                <a:latin typeface="Segoe UI"/>
              </a:rPr>
              <a:t>WT = 15.87 phút (Chiếm 67.4% CT)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E293B"/>
                </a:solidFill>
                <a:latin typeface="Segoe UI"/>
              </a:defRPr>
            </a:pPr>
            <a:r>
              <a:t>Phân tích định tính: Giá trị gia tăng &amp; Lãng phí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1188720" cy="411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3870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981D23"/>
                </a:solidFill>
                <a:latin typeface="Segoe UI"/>
              </a:defRPr>
            </a:pPr>
            <a:r>
              <a:t>CHƯƠNG 3: PHÂN TÍCH ĐỊNH TÍNH (AS-IS)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>
                <a:solidFill>
                  <a:srgbClr val="64748B"/>
                </a:solidFill>
                <a:latin typeface="Segoe UI"/>
              </a:defRPr>
            </a:pPr>
            <a:r>
              <a:t>14 / 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52120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188720"/>
            <a:ext cx="54864" cy="1481328"/>
          </a:xfrm>
          <a:prstGeom prst="rect">
            <a:avLst/>
          </a:prstGeom>
          <a:solidFill>
            <a:srgbClr val="109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298448"/>
            <a:ext cx="493776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10955D"/>
                </a:solidFill>
                <a:latin typeface="Segoe UI"/>
              </a:defRPr>
            </a:pPr>
            <a:r>
              <a:t>★ NHÓM VA (GIA TĂNG GIÁ TRỊ - 5 BƯỚC)</a:t>
            </a:r>
          </a:p>
          <a:p>
            <a:pPr>
              <a:defRPr sz="950">
                <a:solidFill>
                  <a:srgbClr val="1E293B"/>
                </a:solidFill>
                <a:latin typeface="Segoe UI"/>
              </a:defRPr>
            </a:pPr>
            <a:r>
              <a:t>• Khách chọn món, Chiết xuất Espresso/Phin 9 bar, Xay đá Freeze, Nướng bánh mì, Bàn giao đồ uống hoàn chỉnh cho khách.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871216"/>
            <a:ext cx="52120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871216"/>
            <a:ext cx="54864" cy="14813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2980944"/>
            <a:ext cx="493776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D97706"/>
                </a:solidFill>
                <a:latin typeface="Segoe UI"/>
              </a:defRPr>
            </a:pPr>
            <a:r>
              <a:t>★ NHÓM BVA (GIÁ TRỊ KINH DOANH - 5 BƯỚC)</a:t>
            </a:r>
          </a:p>
          <a:p>
            <a:pPr>
              <a:defRPr sz="950">
                <a:solidFill>
                  <a:srgbClr val="1E293B"/>
                </a:solidFill>
                <a:latin typeface="Segoe UI"/>
              </a:defRPr>
            </a:pPr>
            <a:r>
              <a:t>• Chào khách &amp; tư vấn, Nhập POS ghi nhận doanh thu, Thanh toán tiền mặt/QR, Gom đồ lên khay, Kiểm tra cảm quan sản phẩm.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553712"/>
            <a:ext cx="52120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553712"/>
            <a:ext cx="54864" cy="148132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4663440"/>
            <a:ext cx="493776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DC2626"/>
                </a:solidFill>
                <a:latin typeface="Segoe UI"/>
              </a:defRPr>
            </a:pPr>
            <a:r>
              <a:t>★ NHÓM NVA (LÃNG PHÍ TRIỆT TIÊU - 7 BƯỚC)</a:t>
            </a:r>
          </a:p>
          <a:p>
            <a:pPr>
              <a:defRPr sz="950">
                <a:solidFill>
                  <a:srgbClr val="1E293B"/>
                </a:solidFill>
                <a:latin typeface="Segoe UI"/>
              </a:defRPr>
            </a:pPr>
            <a:r>
              <a:t>• Xếp hàng chờ order (8-12p), Báo hết món gián đoạn, In bill giấy &amp; kẹp ray, Nạp thẻ Pager, Khách ngồi chờ thụ động, Pha sai món làm lại.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5352" y="1188720"/>
            <a:ext cx="52120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5352" y="1188720"/>
            <a:ext cx="54864" cy="148132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9944" y="1298448"/>
            <a:ext cx="493776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1E293B"/>
                </a:solidFill>
                <a:latin typeface="Segoe UI"/>
              </a:defRPr>
            </a:pPr>
            <a:r>
              <a:t>★ NHÓM MOVE (DI CHUYỂN THỪA)</a:t>
            </a:r>
          </a:p>
          <a:p>
            <a:pPr>
              <a:defRPr sz="950">
                <a:solidFill>
                  <a:srgbClr val="1E293B"/>
                </a:solidFill>
                <a:latin typeface="Segoe UI"/>
              </a:defRPr>
            </a:pPr>
            <a:r>
              <a:t>• Di chuyển bill giấy giữa quầy thu ngân và quầy bar; Barista cúi lấy nguyên liệu sữa dưới gầm tủ nhiều lần trong ca.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352" y="2871216"/>
            <a:ext cx="52120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5352" y="2871216"/>
            <a:ext cx="54864" cy="148132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9944" y="2980944"/>
            <a:ext cx="493776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DC2626"/>
                </a:solidFill>
                <a:latin typeface="Segoe UI"/>
              </a:defRPr>
            </a:pPr>
            <a:r>
              <a:t>★ NHÓM HOLD (CHỜ ĐỢI &amp; ÙN NGHẼN)</a:t>
            </a:r>
          </a:p>
          <a:p>
            <a:pPr>
              <a:defRPr sz="950">
                <a:solidFill>
                  <a:srgbClr val="1E293B"/>
                </a:solidFill>
                <a:latin typeface="Segoe UI"/>
              </a:defRPr>
            </a:pPr>
            <a:r>
              <a:t>• Khách đứng chờ xếp hàng 8-12 phút; 15-20 khách ùn ứ trước quầy; Bill giấy in kẹp dồn ứ trên ray pha chế giờ cao điểm.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45352" y="4553712"/>
            <a:ext cx="52120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45352" y="4553712"/>
            <a:ext cx="54864" cy="1481328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9944" y="4663440"/>
            <a:ext cx="493776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981D23"/>
                </a:solidFill>
                <a:latin typeface="Segoe UI"/>
              </a:defRPr>
            </a:pPr>
            <a:r>
              <a:t>★ NHÓM OVER-DO (LỖI &amp; THAO TÁC THỪA)</a:t>
            </a:r>
          </a:p>
          <a:p>
            <a:pPr>
              <a:defRPr sz="950">
                <a:solidFill>
                  <a:srgbClr val="1E293B"/>
                </a:solidFill>
                <a:latin typeface="Segoe UI"/>
              </a:defRPr>
            </a:pPr>
            <a:r>
              <a:t>• Nhập nhầm ít đá thành nhiều đá phải đổ bỏ ly làm lại; Hỏi lại số điện thoại tích điểm dù khách đã mở Highlands App sẵn.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E293B"/>
                </a:solidFill>
                <a:latin typeface="Segoe UI"/>
              </a:defRPr>
            </a:pPr>
            <a:r>
              <a:t>Phân tích Pareto 80/20 tổn thất tài chính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1188720" cy="411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3870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981D23"/>
                </a:solidFill>
                <a:latin typeface="Segoe UI"/>
              </a:defRPr>
            </a:pPr>
            <a:r>
              <a:t>CHƯƠNG 3: PHÂN TÍCH HIỆN TRẠNG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>
                <a:solidFill>
                  <a:srgbClr val="64748B"/>
                </a:solidFill>
                <a:latin typeface="Segoe UI"/>
              </a:defRPr>
            </a:pPr>
            <a:r>
              <a:t>15 / 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4389120" cy="11018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188720"/>
            <a:ext cx="54864" cy="11018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261872"/>
            <a:ext cx="4114800" cy="955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293B"/>
                </a:solidFill>
                <a:latin typeface="Segoe UI"/>
              </a:defRPr>
            </a:pPr>
            <a:r>
              <a:t>1. Khách bỏ hàng do chờ lâu</a:t>
            </a:r>
          </a:p>
          <a:p>
            <a:pPr>
              <a:defRPr sz="1000" b="1">
                <a:solidFill>
                  <a:srgbClr val="DC2626"/>
                </a:solidFill>
                <a:latin typeface="Segoe UI"/>
              </a:defRPr>
            </a:pPr>
            <a:r>
              <a:t>└ 42.5 triệu VNĐ/tháng (43.8%)</a:t>
            </a:r>
          </a:p>
          <a:p>
            <a:pPr>
              <a:defRPr sz="880">
                <a:solidFill>
                  <a:srgbClr val="64748B"/>
                </a:solidFill>
                <a:latin typeface="Segoe UI"/>
              </a:defRPr>
            </a:pPr>
            <a:r>
              <a:t>  Xếp hàng 8-12 phút giờ cao điểm sáng khiến khách bỏ đi.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436876"/>
            <a:ext cx="4389120" cy="11018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436876"/>
            <a:ext cx="54864" cy="1101852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2510028"/>
            <a:ext cx="4114800" cy="955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293B"/>
                </a:solidFill>
                <a:latin typeface="Segoe UI"/>
              </a:defRPr>
            </a:pPr>
            <a:r>
              <a:t>2. Làm lại món do sai khẩu vị</a:t>
            </a:r>
          </a:p>
          <a:p>
            <a:pPr>
              <a:defRPr sz="1000" b="1">
                <a:solidFill>
                  <a:srgbClr val="981D23"/>
                </a:solidFill>
                <a:latin typeface="Segoe UI"/>
              </a:defRPr>
            </a:pPr>
            <a:r>
              <a:t>└ 28.0 triệu VNĐ/tháng (28.9%)</a:t>
            </a:r>
          </a:p>
          <a:p>
            <a:pPr>
              <a:defRPr sz="880">
                <a:solidFill>
                  <a:srgbClr val="64748B"/>
                </a:solidFill>
                <a:latin typeface="Segoe UI"/>
              </a:defRPr>
            </a:pPr>
            <a:r>
              <a:t>  Tỷ lệ làm lại r = 4.50% gây lãng phí cost nguyên liệu.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685032"/>
            <a:ext cx="4389120" cy="11018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685032"/>
            <a:ext cx="54864" cy="11018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758184"/>
            <a:ext cx="4114800" cy="955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293B"/>
                </a:solidFill>
                <a:latin typeface="Segoe UI"/>
              </a:defRPr>
            </a:pPr>
            <a:r>
              <a:t>3. Chi phí in bill &amp; thẻ rung</a:t>
            </a:r>
          </a:p>
          <a:p>
            <a:pPr>
              <a:defRPr sz="1000" b="1">
                <a:solidFill>
                  <a:srgbClr val="D97706"/>
                </a:solidFill>
                <a:latin typeface="Segoe UI"/>
              </a:defRPr>
            </a:pPr>
            <a:r>
              <a:t>└ 14.2 triệu VNĐ/tháng (14.6%)</a:t>
            </a:r>
          </a:p>
          <a:p>
            <a:pPr>
              <a:defRPr sz="880">
                <a:solidFill>
                  <a:srgbClr val="64748B"/>
                </a:solidFill>
                <a:latin typeface="Segoe UI"/>
              </a:defRPr>
            </a:pPr>
            <a:r>
              <a:t>  Thẻ rung hỏng hóc, mất sóng và giấy in nhiệt liên tục.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933188"/>
            <a:ext cx="4389120" cy="11018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933188"/>
            <a:ext cx="54864" cy="110185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5006340"/>
            <a:ext cx="4114800" cy="955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293B"/>
                </a:solidFill>
                <a:latin typeface="Segoe UI"/>
              </a:defRPr>
            </a:pPr>
            <a:r>
              <a:t>4. Hao hụt tồn kho &amp; khác</a:t>
            </a:r>
          </a:p>
          <a:p>
            <a:pPr>
              <a:defRPr sz="1000" b="1">
                <a:solidFill>
                  <a:srgbClr val="64748B"/>
                </a:solidFill>
                <a:latin typeface="Segoe UI"/>
              </a:defRPr>
            </a:pPr>
            <a:r>
              <a:t>└ 12.3 triệu VNĐ/tháng (12.7%)</a:t>
            </a:r>
          </a:p>
          <a:p>
            <a:pPr>
              <a:defRPr sz="880">
                <a:solidFill>
                  <a:srgbClr val="64748B"/>
                </a:solidFill>
                <a:latin typeface="Segoe UI"/>
              </a:defRPr>
            </a:pPr>
            <a:r>
              <a:t>  Hao hụt cuối ngày và bảo trì định kỳ máy xay.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22392" y="1188720"/>
            <a:ext cx="603504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areto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3832" y="1962634"/>
            <a:ext cx="5852160" cy="329849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E293B"/>
                </a:solidFill>
                <a:latin typeface="Segoe UI"/>
              </a:defRPr>
            </a:pPr>
            <a:r>
              <a:t>Truy vết nguyên nhân gốc rễ (5-Why Diagram)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1188720" cy="411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3870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981D23"/>
                </a:solidFill>
                <a:latin typeface="Segoe UI"/>
              </a:defRPr>
            </a:pPr>
            <a:r>
              <a:t>CHƯƠNG 3: NGUYÊN NHÂN GỐC RỄ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>
                <a:solidFill>
                  <a:srgbClr val="64748B"/>
                </a:solidFill>
                <a:latin typeface="Segoe UI"/>
              </a:defRPr>
            </a:pPr>
            <a:r>
              <a:t>16 / 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0728655" cy="502920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ve_why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019" y="1298448"/>
            <a:ext cx="10271656" cy="480974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E293B"/>
                </a:solidFill>
                <a:latin typeface="Segoe UI"/>
              </a:defRPr>
            </a:pPr>
            <a:r>
              <a:t>Biểu đồ xương cá Ishikawa 6M (18 Nguyên nhân)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1188720" cy="411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3870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981D23"/>
                </a:solidFill>
                <a:latin typeface="Segoe UI"/>
              </a:defRPr>
            </a:pPr>
            <a:r>
              <a:t>CHƯƠNG 3: BIỂU ĐỒ XƯƠNG CÁ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>
                <a:solidFill>
                  <a:srgbClr val="64748B"/>
                </a:solidFill>
                <a:latin typeface="Segoe UI"/>
              </a:defRPr>
            </a:pPr>
            <a:r>
              <a:t>17 / 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0728655" cy="502920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shbon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6712" y="1298448"/>
            <a:ext cx="9018270" cy="480974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E293B"/>
                </a:solidFill>
                <a:latin typeface="Segoe UI"/>
              </a:defRPr>
            </a:pPr>
            <a:r>
              <a:t>BPMN 2.0 P04 Hiện trạng (As-Is: WT chiếm 67.4%)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1188720" cy="411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3870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981D23"/>
                </a:solidFill>
                <a:latin typeface="Segoe UI"/>
              </a:defRPr>
            </a:pPr>
            <a:r>
              <a:t>QUY TRÌNH TRỌNG TÂM AS-IS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>
                <a:solidFill>
                  <a:srgbClr val="64748B"/>
                </a:solidFill>
                <a:latin typeface="Segoe UI"/>
              </a:defRPr>
            </a:pPr>
            <a:r>
              <a:t>18 / 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0728655" cy="502920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pmn_p04_ban_hang_tai_qu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680716"/>
            <a:ext cx="10509199" cy="404520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E293B"/>
                </a:solidFill>
                <a:latin typeface="Segoe UI"/>
              </a:defRPr>
            </a:pPr>
            <a:r>
              <a:t>Hệ sinh thái To-Be &amp; Kiến trúc C4 Container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1188720" cy="411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3870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981D23"/>
                </a:solidFill>
                <a:latin typeface="Segoe UI"/>
              </a:defRPr>
            </a:pPr>
            <a:r>
              <a:t>CHƯƠNG 4: GIẢI PHÁP TO-BE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>
                <a:solidFill>
                  <a:srgbClr val="64748B"/>
                </a:solidFill>
                <a:latin typeface="Segoe UI"/>
              </a:defRPr>
            </a:pPr>
            <a:r>
              <a:t>19 / 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3931920" cy="11018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188720"/>
            <a:ext cx="54864" cy="1101852"/>
          </a:xfrm>
          <a:prstGeom prst="rect">
            <a:avLst/>
          </a:prstGeom>
          <a:solidFill>
            <a:srgbClr val="109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280160"/>
            <a:ext cx="365760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10955D"/>
                </a:solidFill>
                <a:latin typeface="Segoe UI"/>
              </a:defRPr>
            </a:pPr>
            <a:r>
              <a:t>1. Self-Order Kiosk &amp; Smart App</a:t>
            </a:r>
          </a:p>
          <a:p>
            <a:pPr>
              <a:defRPr sz="919">
                <a:solidFill>
                  <a:srgbClr val="1E293B"/>
                </a:solidFill>
                <a:latin typeface="Segoe UI"/>
              </a:defRPr>
            </a:pPr>
            <a:r>
              <a:t>Khách tự đặt món, thanh toán VietQR động 3s; triệt tiêu 100% hàng đợi tại quầy order.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436876"/>
            <a:ext cx="3931920" cy="11018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436876"/>
            <a:ext cx="54864" cy="11018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2528316"/>
            <a:ext cx="365760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D97706"/>
                </a:solidFill>
                <a:latin typeface="Segoe UI"/>
              </a:defRPr>
            </a:pPr>
            <a:r>
              <a:t>2. Kitchen Display System (KDS 3 Trạm)</a:t>
            </a:r>
          </a:p>
          <a:p>
            <a:pPr>
              <a:defRPr sz="919">
                <a:solidFill>
                  <a:srgbClr val="1E293B"/>
                </a:solidFill>
                <a:latin typeface="Segoe UI"/>
              </a:defRPr>
            </a:pPr>
            <a:r>
              <a:t>Phân luồng đơn song song (Espresso / Freeze / Bếp); xóa sổ hoàn toàn bill giấy in nhiệt.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685032"/>
            <a:ext cx="3931920" cy="11018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685032"/>
            <a:ext cx="54864" cy="1101852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776472"/>
            <a:ext cx="365760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981D23"/>
                </a:solidFill>
                <a:latin typeface="Segoe UI"/>
              </a:defRPr>
            </a:pPr>
            <a:r>
              <a:t>3. Camunda Zeebe BPMS 4 Tầng</a:t>
            </a:r>
          </a:p>
          <a:p>
            <a:pPr>
              <a:defRPr sz="919">
                <a:solidFill>
                  <a:srgbClr val="1E293B"/>
                </a:solidFill>
                <a:latin typeface="Segoe UI"/>
              </a:defRPr>
            </a:pPr>
            <a:r>
              <a:t>Tự động điều phối luồng trạng thái đơn hàng theo kiến trúc Microservices Event-Driven.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933188"/>
            <a:ext cx="3931920" cy="11018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933188"/>
            <a:ext cx="54864" cy="110185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5024628"/>
            <a:ext cx="365760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1E293B"/>
                </a:solidFill>
                <a:latin typeface="Segoe UI"/>
              </a:defRPr>
            </a:pPr>
            <a:r>
              <a:t>4. Smart BOM Inventory Sync</a:t>
            </a:r>
          </a:p>
          <a:p>
            <a:pPr>
              <a:defRPr sz="919">
                <a:solidFill>
                  <a:srgbClr val="1E293B"/>
                </a:solidFill>
                <a:latin typeface="Segoe UI"/>
              </a:defRPr>
            </a:pPr>
            <a:r>
              <a:t>Tự động trừ tồn kho SAP ERP thời gian thực theo định mức Recipe chuẩn của từng món.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92040" y="1188720"/>
            <a:ext cx="6568135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4_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962688"/>
            <a:ext cx="6385255" cy="329838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E293B"/>
                </a:solidFill>
                <a:latin typeface="Segoe UI"/>
              </a:defRPr>
            </a:pPr>
            <a:r>
              <a:t>Kiến trúc hệ thống BPMS 4 tầng (Camunda Zeebe)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1188720" cy="411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3870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981D23"/>
                </a:solidFill>
                <a:latin typeface="Segoe UI"/>
              </a:defRPr>
            </a:pPr>
            <a:r>
              <a:t>CHƯƠNG 4: KIẾN TRÚC BPMS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>
                <a:solidFill>
                  <a:srgbClr val="64748B"/>
                </a:solidFill>
                <a:latin typeface="Segoe UI"/>
              </a:defRPr>
            </a:pPr>
            <a:r>
              <a:t>20 / 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0728655" cy="502920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pms_4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593139"/>
            <a:ext cx="10509199" cy="42203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E293B"/>
                </a:solidFill>
                <a:latin typeface="Segoe UI"/>
              </a:defRPr>
            </a:pPr>
            <a:r>
              <a:t>Sơ đồ tuần tự (Sequence Diagram) tích hợp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1188720" cy="411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3870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981D23"/>
                </a:solidFill>
                <a:latin typeface="Segoe UI"/>
              </a:defRPr>
            </a:pPr>
            <a:r>
              <a:t>CHƯƠNG 4: TÍCH HỢP HỆ THỐNG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>
                <a:solidFill>
                  <a:srgbClr val="64748B"/>
                </a:solidFill>
                <a:latin typeface="Segoe UI"/>
              </a:defRPr>
            </a:pPr>
            <a:r>
              <a:t>21 / 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0728655" cy="502920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equence_diagram_to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694" y="1298448"/>
            <a:ext cx="10240306" cy="480974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E293B"/>
                </a:solidFill>
                <a:latin typeface="Segoe UI"/>
              </a:defRPr>
            </a:pPr>
            <a:r>
              <a:t>BPMN 2.0 P04 Cải tiến (To-Be: Xử lý song song KDS)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1188720" cy="411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3870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981D23"/>
                </a:solidFill>
                <a:latin typeface="Segoe UI"/>
              </a:defRPr>
            </a:pPr>
            <a:r>
              <a:t>QUY TRÌNH TRỌNG TÂM TO-BE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>
                <a:solidFill>
                  <a:srgbClr val="64748B"/>
                </a:solidFill>
                <a:latin typeface="Segoe UI"/>
              </a:defRPr>
            </a:pPr>
            <a:r>
              <a:t>22 / 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0728655" cy="502920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pmn_p04_tobe_ban_hang_k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534400"/>
            <a:ext cx="10509199" cy="4337839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E293B"/>
                </a:solidFill>
                <a:latin typeface="Segoe UI"/>
              </a:defRPr>
            </a:pPr>
            <a:r>
              <a:t>Ma trận phân công trách nhiệm RACI To-Be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1188720" cy="411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3870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981D23"/>
                </a:solidFill>
                <a:latin typeface="Segoe UI"/>
              </a:defRPr>
            </a:pPr>
            <a:r>
              <a:t>CHƯƠNG 4: MA TRẬN RACI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>
                <a:solidFill>
                  <a:srgbClr val="64748B"/>
                </a:solidFill>
                <a:latin typeface="Segoe UI"/>
              </a:defRPr>
            </a:pPr>
            <a:r>
              <a:t>23 / 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18872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7695"/>
                <a:gridCol w="1536192"/>
                <a:gridCol w="1536192"/>
                <a:gridCol w="1536192"/>
                <a:gridCol w="1536192"/>
                <a:gridCol w="1536192"/>
              </a:tblGrid>
              <a:tr h="51435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Bước Nghiệp Vụ To-Be</a:t>
                      </a:r>
                    </a:p>
                  </a:txBody>
                  <a:tcPr>
                    <a:solidFill>
                      <a:srgbClr val="981D2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Khách hàng</a:t>
                      </a:r>
                    </a:p>
                  </a:txBody>
                  <a:tcPr>
                    <a:solidFill>
                      <a:srgbClr val="981D2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Thu ngân / Kiosk</a:t>
                      </a:r>
                    </a:p>
                  </a:txBody>
                  <a:tcPr>
                    <a:solidFill>
                      <a:srgbClr val="981D2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Barista / Bếp</a:t>
                      </a:r>
                    </a:p>
                  </a:txBody>
                  <a:tcPr>
                    <a:solidFill>
                      <a:srgbClr val="981D2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Cửa hàng trưởng</a:t>
                      </a:r>
                    </a:p>
                  </a:txBody>
                  <a:tcPr>
                    <a:solidFill>
                      <a:srgbClr val="981D2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Hệ thống IT / BPMS</a:t>
                      </a:r>
                    </a:p>
                  </a:txBody>
                  <a:tcPr>
                    <a:solidFill>
                      <a:srgbClr val="981D23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981D23"/>
                          </a:solidFill>
                          <a:latin typeface="Segoe UI"/>
                        </a:defRPr>
                      </a:pPr>
                      <a:r>
                        <a:t>1. Đặt món &amp; Tùy biến khẩu vị (Kiosk/App)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955D"/>
                          </a:solidFill>
                          <a:latin typeface="Segoe U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981D23"/>
                          </a:solidFill>
                          <a:latin typeface="Segoe U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955D"/>
                          </a:solidFill>
                          <a:latin typeface="Segoe UI"/>
                        </a:defRPr>
                      </a:pPr>
                      <a:r>
                        <a:t>C / 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0955D"/>
                          </a:solidFill>
                          <a:latin typeface="Segoe UI"/>
                        </a:defRPr>
                      </a:pPr>
                      <a:r>
                        <a:t>2. Thanh toán QR Động &amp; Phát hành hóa đơn</a:t>
                      </a:r>
                    </a:p>
                  </a:txBody>
                  <a:tcPr>
                    <a:solidFill>
                      <a:srgbClr val="FDF6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955D"/>
                          </a:solidFill>
                          <a:latin typeface="Segoe U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DF6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981D23"/>
                          </a:solidFill>
                          <a:latin typeface="Segoe U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DF6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DF6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DF6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955D"/>
                          </a:solidFill>
                          <a:latin typeface="Segoe UI"/>
                        </a:defRPr>
                      </a:pPr>
                      <a:r>
                        <a:t>C / R</a:t>
                      </a:r>
                    </a:p>
                  </a:txBody>
                  <a:tcPr>
                    <a:solidFill>
                      <a:srgbClr val="FDF6EE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3. Phân luồng đơn hàng song song lên KDS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955D"/>
                          </a:solidFill>
                          <a:latin typeface="Segoe U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981D23"/>
                          </a:solidFill>
                          <a:latin typeface="Segoe U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955D"/>
                          </a:solidFill>
                          <a:latin typeface="Segoe UI"/>
                        </a:defRPr>
                      </a:pPr>
                      <a:r>
                        <a:t>C / 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4. Pha chế đồ uống &amp; Cập nhật KDS Bump</a:t>
                      </a:r>
                    </a:p>
                  </a:txBody>
                  <a:tcPr>
                    <a:solidFill>
                      <a:srgbClr val="FDF6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DF6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DF6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955D"/>
                          </a:solidFill>
                          <a:latin typeface="Segoe U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DF6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981D23"/>
                          </a:solidFill>
                          <a:latin typeface="Segoe U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DF6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DF6EE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5. Kiểm tra cảm quan &amp; Hoàn tất khay món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955D"/>
                          </a:solidFill>
                          <a:latin typeface="Segoe U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981D23"/>
                          </a:solidFill>
                          <a:latin typeface="Segoe U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6. Nhận món &amp; Xác nhận hoàn tất</a:t>
                      </a:r>
                    </a:p>
                  </a:txBody>
                  <a:tcPr>
                    <a:solidFill>
                      <a:srgbClr val="FDF6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981D23"/>
                          </a:solidFill>
                          <a:latin typeface="Segoe UI"/>
                        </a:defRPr>
                      </a:pPr>
                      <a:r>
                        <a:t>A / R</a:t>
                      </a:r>
                    </a:p>
                  </a:txBody>
                  <a:tcPr>
                    <a:solidFill>
                      <a:srgbClr val="FDF6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DF6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DF6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DF6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DF6EE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0955D"/>
                          </a:solidFill>
                          <a:latin typeface="Segoe UI"/>
                        </a:defRPr>
                      </a:pPr>
                      <a:r>
                        <a:t>7. Trừ tồn kho nguyên liệu &amp; Ghi nhận ERP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981D23"/>
                          </a:solidFill>
                          <a:latin typeface="Segoe U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955D"/>
                          </a:solidFill>
                          <a:latin typeface="Segoe UI"/>
                        </a:defRPr>
                      </a:pPr>
                      <a:r>
                        <a:t>C / 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44068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981D23"/>
                </a:solidFill>
                <a:latin typeface="Segoe UI"/>
              </a:defRPr>
            </a:pPr>
            <a:r>
              <a:t>Ghi chú: Cột IT / BPMS đóng vai trò thực thi kỹ thuật (R) hoặc tham vấn (C). Quyền phê duyệt và giải trình cuối cùng (A - Accountable) 100% thuộc về vai trò Con người.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E293B"/>
                </a:solidFill>
                <a:latin typeface="Segoe UI"/>
              </a:defRPr>
            </a:pPr>
            <a:r>
              <a:t>Phân tích định lượng hiệu quả (Flow Analysis)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1188720" cy="411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3870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981D23"/>
                </a:solidFill>
                <a:latin typeface="Segoe UI"/>
              </a:defRPr>
            </a:pPr>
            <a:r>
              <a:t>CHƯƠNG 4: PHÂN TÍCH ĐỊNH LƯỢNG (TO-BE)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>
                <a:solidFill>
                  <a:srgbClr val="64748B"/>
                </a:solidFill>
                <a:latin typeface="Segoe UI"/>
              </a:defRPr>
            </a:pPr>
            <a:r>
              <a:t>24 / 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338328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188720"/>
            <a:ext cx="3383280" cy="384048"/>
          </a:xfrm>
          <a:prstGeom prst="rect">
            <a:avLst/>
          </a:prstGeom>
          <a:solidFill>
            <a:srgbClr val="109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Segoe UI"/>
              </a:defRPr>
            </a:pPr>
            <a:r>
              <a:t>THỜI GIAN CHU KỲ (TIME)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645920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10955D"/>
                </a:solidFill>
                <a:latin typeface="Segoe UI"/>
              </a:defRPr>
            </a:pPr>
            <a:r>
              <a:t>4.80 phút</a:t>
            </a:r>
          </a:p>
          <a:p>
            <a:pPr>
              <a:defRPr sz="950" b="1">
                <a:solidFill>
                  <a:srgbClr val="1E293B"/>
                </a:solidFill>
                <a:latin typeface="Segoe UI"/>
              </a:defRPr>
            </a:pPr>
            <a:r>
              <a:t>-79.6%  •  Thời gian chu kỳ (As-Is: 23.54p)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950" b="1">
                <a:solidFill>
                  <a:srgbClr val="1E293B"/>
                </a:solidFill>
                <a:latin typeface="Segoe UI"/>
              </a:defRPr>
            </a:pPr>
            <a:r>
              <a:t>• Thời gian xử lý (PT):</a:t>
            </a:r>
          </a:p>
          <a:p>
            <a:pPr>
              <a:spcAft>
                <a:spcPts val="400"/>
              </a:spcAft>
              <a:defRPr sz="919">
                <a:solidFill>
                  <a:srgbClr val="64748B"/>
                </a:solidFill>
                <a:latin typeface="Segoe UI"/>
              </a:defRPr>
            </a:pPr>
            <a:r>
              <a:t>  └ 7.67p -&gt; 3.86p (-49.7%)</a:t>
            </a:r>
          </a:p>
          <a:p>
            <a:pPr>
              <a:defRPr sz="950" b="1">
                <a:solidFill>
                  <a:srgbClr val="1E293B"/>
                </a:solidFill>
                <a:latin typeface="Segoe UI"/>
              </a:defRPr>
            </a:pPr>
            <a:r>
              <a:t>• Thời gian chờ (WT):</a:t>
            </a:r>
          </a:p>
          <a:p>
            <a:pPr>
              <a:spcAft>
                <a:spcPts val="400"/>
              </a:spcAft>
              <a:defRPr sz="919">
                <a:solidFill>
                  <a:srgbClr val="64748B"/>
                </a:solidFill>
                <a:latin typeface="Segoe UI"/>
              </a:defRPr>
            </a:pPr>
            <a:r>
              <a:t>  └ 15.87p -&gt; 0.94p (-94.1%)</a:t>
            </a:r>
          </a:p>
          <a:p>
            <a:pPr>
              <a:defRPr sz="950" b="1">
                <a:solidFill>
                  <a:srgbClr val="1E293B"/>
                </a:solidFill>
                <a:latin typeface="Segoe UI"/>
              </a:defRPr>
            </a:pPr>
            <a:r>
              <a:t>• Hiệu suất chu kỳ (CTE):</a:t>
            </a:r>
          </a:p>
          <a:p>
            <a:pPr>
              <a:spcAft>
                <a:spcPts val="400"/>
              </a:spcAft>
              <a:defRPr sz="919">
                <a:solidFill>
                  <a:srgbClr val="64748B"/>
                </a:solidFill>
                <a:latin typeface="Segoe UI"/>
              </a:defRPr>
            </a:pPr>
            <a:r>
              <a:t>  └ 32.58% -&gt; 80.42% (+2.47x)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98264" y="1188720"/>
            <a:ext cx="338328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8264" y="1188720"/>
            <a:ext cx="3383280" cy="3840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Segoe UI"/>
              </a:defRPr>
            </a:pPr>
            <a:r>
              <a:t>CHẤT LƯỢNG &amp; ĐỘ CHÍNH XÁC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645920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D97706"/>
                </a:solidFill>
                <a:latin typeface="Segoe UI"/>
              </a:defRPr>
            </a:pPr>
            <a:r>
              <a:t>&lt; 0.80%</a:t>
            </a:r>
          </a:p>
          <a:p>
            <a:pPr>
              <a:defRPr sz="950" b="1">
                <a:solidFill>
                  <a:srgbClr val="1E293B"/>
                </a:solidFill>
                <a:latin typeface="Segoe UI"/>
              </a:defRPr>
            </a:pPr>
            <a:r>
              <a:t>-95.6%  •  Tỷ lệ sai lỗi DR (As-Is: 6.80%)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788920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950" b="1">
                <a:solidFill>
                  <a:srgbClr val="1E293B"/>
                </a:solidFill>
                <a:latin typeface="Segoe UI"/>
              </a:defRPr>
            </a:pPr>
            <a:r>
              <a:t>• Tỷ lệ làm lại món (RR):</a:t>
            </a:r>
          </a:p>
          <a:p>
            <a:pPr>
              <a:spcAft>
                <a:spcPts val="400"/>
              </a:spcAft>
              <a:defRPr sz="919">
                <a:solidFill>
                  <a:srgbClr val="64748B"/>
                </a:solidFill>
                <a:latin typeface="Segoe UI"/>
              </a:defRPr>
            </a:pPr>
            <a:r>
              <a:t>  └ 4.50% -&gt; &lt; 0.20% (nhờ KDS)</a:t>
            </a:r>
          </a:p>
          <a:p>
            <a:pPr>
              <a:defRPr sz="950" b="1">
                <a:solidFill>
                  <a:srgbClr val="1E293B"/>
                </a:solidFill>
                <a:latin typeface="Segoe UI"/>
              </a:defRPr>
            </a:pPr>
            <a:r>
              <a:t>• Tỷ lệ khách bỏ hàng:</a:t>
            </a:r>
          </a:p>
          <a:p>
            <a:pPr>
              <a:spcAft>
                <a:spcPts val="400"/>
              </a:spcAft>
              <a:defRPr sz="919">
                <a:solidFill>
                  <a:srgbClr val="64748B"/>
                </a:solidFill>
                <a:latin typeface="Segoe UI"/>
              </a:defRPr>
            </a:pPr>
            <a:r>
              <a:t>  └ 8.50% -&gt; &lt; 0.80% (-90.6%)</a:t>
            </a:r>
          </a:p>
          <a:p>
            <a:pPr>
              <a:defRPr sz="950" b="1">
                <a:solidFill>
                  <a:srgbClr val="1E293B"/>
                </a:solidFill>
                <a:latin typeface="Segoe UI"/>
              </a:defRPr>
            </a:pPr>
            <a:r>
              <a:t>• Điểm hài lòng CSAT:</a:t>
            </a:r>
          </a:p>
          <a:p>
            <a:pPr>
              <a:spcAft>
                <a:spcPts val="400"/>
              </a:spcAft>
              <a:defRPr sz="919">
                <a:solidFill>
                  <a:srgbClr val="64748B"/>
                </a:solidFill>
                <a:latin typeface="Segoe UI"/>
              </a:defRPr>
            </a:pPr>
            <a:r>
              <a:t>  └ 68.0% -&gt; 95.5% (+27.5%)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1188720"/>
            <a:ext cx="338328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5008" y="1188720"/>
            <a:ext cx="3383280" cy="384048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Segoe UI"/>
              </a:defRPr>
            </a:pPr>
            <a:r>
              <a:t>TỐI ƯU CHI PHÍ VẬN HÀNH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2168" y="1645920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981D23"/>
                </a:solidFill>
                <a:latin typeface="Segoe UI"/>
              </a:defRPr>
            </a:pPr>
            <a:r>
              <a:t>4.200 đ</a:t>
            </a:r>
          </a:p>
          <a:p>
            <a:pPr>
              <a:defRPr sz="950" b="1">
                <a:solidFill>
                  <a:srgbClr val="1E293B"/>
                </a:solidFill>
                <a:latin typeface="Segoe UI"/>
              </a:defRPr>
            </a:pPr>
            <a:r>
              <a:t>-66.4%  •  Chi phí nhân công / đơn (As-Is: 12.5k)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8" y="2788920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950" b="1">
                <a:solidFill>
                  <a:srgbClr val="1E293B"/>
                </a:solidFill>
                <a:latin typeface="Segoe UI"/>
              </a:defRPr>
            </a:pPr>
            <a:r>
              <a:t>• Chi phí order tại quầy:</a:t>
            </a:r>
          </a:p>
          <a:p>
            <a:pPr>
              <a:spcAft>
                <a:spcPts val="400"/>
              </a:spcAft>
              <a:defRPr sz="919">
                <a:solidFill>
                  <a:srgbClr val="64748B"/>
                </a:solidFill>
                <a:latin typeface="Segoe UI"/>
              </a:defRPr>
            </a:pPr>
            <a:r>
              <a:t>  └ Tự động hóa 100% Kiosk/App</a:t>
            </a:r>
          </a:p>
          <a:p>
            <a:pPr>
              <a:defRPr sz="950" b="1">
                <a:solidFill>
                  <a:srgbClr val="1E293B"/>
                </a:solidFill>
                <a:latin typeface="Segoe UI"/>
              </a:defRPr>
            </a:pPr>
            <a:r>
              <a:t>• Lãng phí in bill giấy:</a:t>
            </a:r>
          </a:p>
          <a:p>
            <a:pPr>
              <a:spcAft>
                <a:spcPts val="400"/>
              </a:spcAft>
              <a:defRPr sz="919">
                <a:solidFill>
                  <a:srgbClr val="64748B"/>
                </a:solidFill>
                <a:latin typeface="Segoe UI"/>
              </a:defRPr>
            </a:pPr>
            <a:r>
              <a:t>  └ Loại bỏ hoàn toàn (0 VNĐ)</a:t>
            </a:r>
          </a:p>
          <a:p>
            <a:pPr>
              <a:defRPr sz="950" b="1">
                <a:solidFill>
                  <a:srgbClr val="1E293B"/>
                </a:solidFill>
                <a:latin typeface="Segoe UI"/>
              </a:defRPr>
            </a:pPr>
            <a:r>
              <a:t>• Lãng phí thẻ rung Pager:</a:t>
            </a:r>
          </a:p>
          <a:p>
            <a:pPr>
              <a:spcAft>
                <a:spcPts val="400"/>
              </a:spcAft>
              <a:defRPr sz="919">
                <a:solidFill>
                  <a:srgbClr val="64748B"/>
                </a:solidFill>
                <a:latin typeface="Segoe UI"/>
              </a:defRPr>
            </a:pPr>
            <a:r>
              <a:t>  └ Xóa sổ chi phí pin &amp; bảo trì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120640"/>
            <a:ext cx="10728655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148072"/>
            <a:ext cx="103628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981D23"/>
                </a:solidFill>
                <a:latin typeface="Segoe UI"/>
              </a:defRPr>
            </a:pPr>
            <a:r>
              <a:t>TỔNG HỢP HIỆU QUẢ CẢI TIẾN QUY TRÌNH P04 (FLOW ANALYSIS):</a:t>
            </a:r>
          </a:p>
          <a:p>
            <a:pPr>
              <a:defRPr sz="919">
                <a:solidFill>
                  <a:srgbClr val="1E293B"/>
                </a:solidFill>
                <a:latin typeface="Segoe UI"/>
              </a:defRPr>
            </a:pPr>
            <a:r>
              <a:t>Hiệu suất chu kỳ tăng vọt từ 32.58% lên 80.42% nhờ triệt tiêu 15.87 phút chờ đợi tại quầy order và phân luồng song song trên KDS (Heuristic H1). Thời gian phục vụ giảm 79.6% (23.54p -&gt; 4.80p), sai lỗi giảm 95.6% và chi phí nhân công tiết kiệm 66.4%.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E293B"/>
                </a:solidFill>
                <a:latin typeface="Segoe UI"/>
              </a:defRPr>
            </a:pPr>
            <a:r>
              <a:t>Giám sát thời gian thực &amp; Lộ trình triển khai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1188720" cy="411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3870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981D23"/>
                </a:solidFill>
                <a:latin typeface="Segoe UI"/>
              </a:defRPr>
            </a:pPr>
            <a:r>
              <a:t>CHƯƠNG 5: GIÁM SÁT THỜI GIAN THỰC &amp;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>
                <a:solidFill>
                  <a:srgbClr val="64748B"/>
                </a:solidFill>
                <a:latin typeface="Segoe UI"/>
              </a:defRPr>
            </a:pPr>
            <a:r>
              <a:t>25 / 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3931920" cy="11018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188720"/>
            <a:ext cx="54864" cy="1101852"/>
          </a:xfrm>
          <a:prstGeom prst="rect">
            <a:avLst/>
          </a:prstGeom>
          <a:solidFill>
            <a:srgbClr val="98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280160"/>
            <a:ext cx="365760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981D23"/>
                </a:solidFill>
                <a:latin typeface="Segoe UI"/>
              </a:defRPr>
            </a:pPr>
            <a:r>
              <a:t>Phase 1 (Q1 - 3 tháng): Pilot Cụm Quán</a:t>
            </a:r>
          </a:p>
          <a:p>
            <a:pPr>
              <a:defRPr sz="919">
                <a:solidFill>
                  <a:srgbClr val="1E293B"/>
                </a:solidFill>
                <a:latin typeface="Segoe UI"/>
              </a:defRPr>
            </a:pPr>
            <a:r>
              <a:t>Thử nghiệm hệ thống Kiosk &amp; KDS tại cụm 10 quán trọng điểm TP.HCM; tinh chỉnh quy trình.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436876"/>
            <a:ext cx="3931920" cy="11018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436876"/>
            <a:ext cx="54864" cy="11018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2528316"/>
            <a:ext cx="365760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D97706"/>
                </a:solidFill>
                <a:latin typeface="Segoe UI"/>
              </a:defRPr>
            </a:pPr>
            <a:r>
              <a:t>Phase 2 (Q2-Q3 - 6 tháng): Triển Khai Toàn Diện</a:t>
            </a:r>
          </a:p>
          <a:p>
            <a:pPr>
              <a:defRPr sz="919">
                <a:solidFill>
                  <a:srgbClr val="1E293B"/>
                </a:solidFill>
                <a:latin typeface="Segoe UI"/>
              </a:defRPr>
            </a:pPr>
            <a:r>
              <a:t>Mở rộng hệ sinh thái Smart Store cho toàn bộ 1.000+ cửa hàng trên toàn quốc.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685032"/>
            <a:ext cx="3931920" cy="11018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685032"/>
            <a:ext cx="54864" cy="1101852"/>
          </a:xfrm>
          <a:prstGeom prst="rect">
            <a:avLst/>
          </a:prstGeom>
          <a:solidFill>
            <a:srgbClr val="109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776472"/>
            <a:ext cx="365760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10955D"/>
                </a:solidFill>
                <a:latin typeface="Segoe UI"/>
              </a:defRPr>
            </a:pPr>
            <a:r>
              <a:t>Phase 3 (Q4 - 3 tháng): Tích Hợp IoT &amp; Đối Soát</a:t>
            </a:r>
          </a:p>
          <a:p>
            <a:pPr>
              <a:defRPr sz="919">
                <a:solidFill>
                  <a:srgbClr val="1E293B"/>
                </a:solidFill>
                <a:latin typeface="Segoe UI"/>
              </a:defRPr>
            </a:pPr>
            <a:r>
              <a:t>Tích hợp cảm biến IoT máy xay hạt &amp; tự động hóa đối soát thanh toán ngân hàng.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933188"/>
            <a:ext cx="3931920" cy="11018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933188"/>
            <a:ext cx="54864" cy="110185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5024628"/>
            <a:ext cx="365760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1E293B"/>
                </a:solidFill>
                <a:latin typeface="Segoe UI"/>
              </a:defRPr>
            </a:pPr>
            <a:r>
              <a:t>Phase 4 (Năm tiếp theo): Process Mining &amp; AI</a:t>
            </a:r>
          </a:p>
          <a:p>
            <a:pPr>
              <a:defRPr sz="919">
                <a:solidFill>
                  <a:srgbClr val="1E293B"/>
                </a:solidFill>
                <a:latin typeface="Segoe UI"/>
              </a:defRPr>
            </a:pPr>
            <a:r>
              <a:t>Ứng dụng Process Mining giám sát nút nghẽn và AI dự báo lượng khách giờ cao điểm.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92040" y="1188720"/>
            <a:ext cx="6568135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dashboard_giam_sat_3_ta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2389702"/>
            <a:ext cx="6385255" cy="244435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ghlands_bg_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365760" y="365760"/>
            <a:ext cx="11460175" cy="6126480"/>
          </a:xfrm>
          <a:prstGeom prst="rect">
            <a:avLst/>
          </a:prstGeom>
          <a:noFill/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594360"/>
            <a:ext cx="3962095" cy="502920"/>
          </a:xfrm>
          <a:prstGeom prst="rect">
            <a:avLst/>
          </a:prstGeom>
          <a:solidFill>
            <a:srgbClr val="781419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D97706"/>
                </a:solidFill>
                <a:latin typeface="Segoe UI"/>
              </a:defRPr>
            </a:pPr>
            <a:r>
              <a:t>✦  HIGHLANDS COFFEE  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2865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1250" b="1">
                <a:solidFill>
                  <a:srgbClr val="D97706"/>
                </a:solidFill>
                <a:latin typeface="Segoe UI"/>
              </a:defRPr>
            </a:pPr>
            <a:r>
              <a:t>BÁO CÁO ĐỒ ÁN MÔN HỌC: HỆ THỐNG QUẢN TRỊ QUY TRÌNH NGHIỆP VỤ (IE203)</a:t>
            </a:r>
          </a:p>
          <a:p>
            <a:pPr algn="ctr">
              <a:spcAft>
                <a:spcPts val="1200"/>
              </a:spcAft>
              <a:defRPr sz="2600" b="1">
                <a:solidFill>
                  <a:srgbClr val="FFFFFF"/>
                </a:solidFill>
                <a:latin typeface="Segoe UI"/>
              </a:defRPr>
            </a:pPr>
            <a:r>
              <a:t>XIN TRÂN TRỌNG CẢM ƠN!</a:t>
            </a:r>
            <a:br/>
            <a:r>
              <a:t>Cảm ơn Thầy và các bạn đã lắng nghe!</a:t>
            </a:r>
          </a:p>
          <a:p>
            <a:pPr algn="ctr">
              <a:defRPr sz="1150" b="1">
                <a:solidFill>
                  <a:srgbClr val="FEF08A"/>
                </a:solidFill>
                <a:latin typeface="Segoe UI"/>
              </a:defRPr>
            </a:pPr>
            <a:r>
              <a:t>📂 GitHub Repository Chính Thức: https://github.com/lavantien/IE203.F31.CN1.CNTT_Group6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663440"/>
            <a:ext cx="10728655" cy="1463040"/>
          </a:xfrm>
          <a:prstGeom prst="rect">
            <a:avLst/>
          </a:prstGeom>
          <a:solidFill>
            <a:srgbClr val="500A0F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103628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150" b="1">
                <a:solidFill>
                  <a:srgbClr val="D97706"/>
                </a:solidFill>
                <a:latin typeface="Segoe UI"/>
              </a:defRPr>
            </a:pPr>
            <a:r>
              <a:t>TỔNG KẾT KẾT QUẢ ĐẠT ĐƯỢC CỦA ĐỀ TÀI</a:t>
            </a:r>
          </a:p>
          <a:p>
            <a:pPr algn="ctr">
              <a:defRPr sz="1050">
                <a:solidFill>
                  <a:srgbClr val="FEE2E2"/>
                </a:solidFill>
                <a:latin typeface="Segoe UI"/>
              </a:defRPr>
            </a:pPr>
            <a:r>
              <a:t>▸ Rút ngắn 79.6% thời gian phục vụ (23.54p -&gt; 4.80p)   |   ▸ Giảm 95.6% sai sót khẩu vị &amp; làm lại</a:t>
            </a:r>
            <a:br/>
            <a:r>
              <a:t>▸ Tiết kiệm 66.4% chi phí nhân công (12.500đ -&gt; 4.200đ/đơn)   |   ▸ Chuẩn hóa 100% OMG BPMN 2.0 &amp; ISO 19510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