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5488"/>
            <a:ext cx="6775704" cy="713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0" y="594360"/>
            <a:ext cx="3962095" cy="502920"/>
          </a:xfrm>
          <a:prstGeom prst="rect">
            <a:avLst/>
          </a:prstGeom>
          <a:solidFill>
            <a:srgbClr val="781419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✦  HIGHLANDS COFFEE  •  SINCE 2002  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50" b="1">
                <a:solidFill>
                  <a:srgbClr val="C5A059"/>
                </a:solidFill>
                <a:latin typeface="Segoe UI"/>
              </a:defRPr>
            </a:pPr>
            <a:r>
              <a:t>TRƯỜNG ĐẠI HỌC CÔNG NGHỆ THÔNG TIN - ĐHQG-HCM | KHOA HỆ THỐNG THÔNG TIN</a:t>
            </a:r>
          </a:p>
          <a:p>
            <a:pPr algn="ctr">
              <a:spcAft>
                <a:spcPts val="1200"/>
              </a:spcAft>
              <a:defRPr sz="2900" b="1">
                <a:solidFill>
                  <a:srgbClr val="FFFFFF"/>
                </a:solidFill>
                <a:latin typeface="Segoe UI"/>
              </a:defRPr>
            </a:pPr>
            <a:r>
              <a:t>TỐI ƯU HÓA QUY TRÌNH NGHIỆP VỤ</a:t>
            </a:r>
            <a:br/>
            <a:r>
              <a:t>CHUỖI CỬA HÀNG HIGHLANDS COFFEE</a:t>
            </a:r>
          </a:p>
          <a:p>
            <a:pPr algn="ctr">
              <a:defRPr sz="1150">
                <a:solidFill>
                  <a:srgbClr val="FEE2E2"/>
                </a:solidFill>
                <a:latin typeface="Segoe UI"/>
              </a:defRPr>
            </a:pPr>
            <a:r>
              <a:t>Đồ Án Môn Học: Hệ Thống Quản Trị Quy Trình Nghiệp Vụ (IE203) • Học Kỳ 2, Năm Học 2025 - 2026</a:t>
            </a:r>
            <a:br/>
            <a:r>
              <a:t>Khoa Hệ Thống Thông Tin — Trường Đại Học Công Nghệ Thông Tin, ĐHQG-HCM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3840480" cy="1691640"/>
          </a:xfrm>
          <a:prstGeom prst="rect">
            <a:avLst/>
          </a:prstGeom>
          <a:solidFill>
            <a:srgbClr val="500A0F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C5A059"/>
                </a:solidFill>
                <a:latin typeface="Segoe UI"/>
              </a:defRPr>
            </a:pPr>
            <a:r>
              <a:t>🎓 GIẢNG VIÊN HƯỚNG DẪN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ThS. Hà Lê Hoài Trung</a:t>
            </a:r>
          </a:p>
          <a:p>
            <a:pPr>
              <a:defRPr sz="950">
                <a:solidFill>
                  <a:srgbClr val="FEE2E2"/>
                </a:solidFill>
                <a:latin typeface="Segoe UI"/>
              </a:defRPr>
            </a:pPr>
            <a:r>
              <a:t>Bộ môn Hệ thống Thông tin</a:t>
            </a:r>
            <a:br/>
            <a:r>
              <a:t>Khoa HTTT – UIT, ĐHQG-HCM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4434840"/>
            <a:ext cx="6705295" cy="1691640"/>
          </a:xfrm>
          <a:prstGeom prst="rect">
            <a:avLst/>
          </a:prstGeom>
          <a:solidFill>
            <a:srgbClr val="500A0F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4544568"/>
            <a:ext cx="6248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5A059"/>
                </a:solidFill>
                <a:latin typeface="Segoe UI"/>
              </a:defRPr>
            </a:pPr>
            <a:r>
              <a:t>👥 NHÓM SINH VIÊN THỰC HIỆN (LỚP IE203.P11)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87375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▸ La Văn Tiến – 24730144</a:t>
            </a:r>
          </a:p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▸ Lê Thị Mỹ Dung – 24730091</a:t>
            </a:r>
          </a:p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▸ Hoàng Ngọc Long – 24730108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7375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▸ Bùi Quang Vinh – 24730151</a:t>
            </a:r>
          </a:p>
          <a:p>
            <a:pPr>
              <a:spcAft>
                <a:spcPts val="3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▸ Nguyễn Duy Nhiệm – 24730129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1: TỔNG QUAN DOANH NGHIỆP &amp; KIẾN TRÚC QUY TRÌNH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Hệ Thống 12 Quy Trình Theo Mô Hình Ngôi Nhà Dumas Đảm Bảo Bao Quát Toàn Diện Chuỗi 1.000+ Quán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297680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297680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2011680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81D23"/>
                </a:solidFill>
                <a:latin typeface="Segoe UI"/>
              </a:defRPr>
            </a:pPr>
            <a:r>
              <a:t>12 PROCESS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38587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81D23"/>
                </a:solidFill>
                <a:latin typeface="Segoe UI"/>
              </a:defRPr>
            </a:pPr>
            <a:r>
              <a:t>Hệ Sinh Thái Highlands Coffee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76272"/>
            <a:ext cx="385876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Quy mô: 1.000+ cửa hàng trên 63 tỉnh thành, 2 xưởng rang.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Sứ mệnh: 'Đậm đà bản sắc cà phê Việt &amp; Tự hào đất Việt'.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Mô hình: Bán hàng tự phục vụ (Self-Service) &amp; Đa kênh.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Hạ tầng CNTT: iPOS, SAP S/4HANA ERP, Highlands App.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Kiến Trúc 12 Quy Trình (Dumas House):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▸ 4 Quản lý: P00 Chiến lược, P01 Mặt bằng, P02 ATVSTP, P03 Ngân sách.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▸ 5 Cốt lõi: P04 Bán hàng quầy, P05 Loyalty, P06 Delivery, P07 Khiếu nại, P08 Cung ứng.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▸ 3 Hỗ trợ: P09 Tuyển dụng, P10 Bảo trì, P11 Kế toán.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5266944"/>
            <a:ext cx="3858768" cy="1097280"/>
          </a:xfrm>
          <a:prstGeom prst="rect">
            <a:avLst/>
          </a:prstGeom>
          <a:solidFill>
            <a:srgbClr val="FDF6E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★ MỤC TIÊU TỐI ƯU HÓA QUY TRÌNH</a:t>
            </a:r>
          </a:p>
          <a:p>
            <a:pPr>
              <a:defRPr sz="880">
                <a:solidFill>
                  <a:srgbClr val="2A1810"/>
                </a:solidFill>
                <a:latin typeface="Segoe UI"/>
              </a:defRPr>
            </a:pPr>
            <a:r>
              <a:t>Tập trung tái thiết kế quy trình cốt lõi P04 (Order-to-Serve) nhằm triệt tiêu điểm nghẽn xếp hàng giờ cao điểm.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207008"/>
            <a:ext cx="697961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207008"/>
            <a:ext cx="697961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cess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148900"/>
            <a:ext cx="6760159" cy="34380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2: PHƯƠNG PHÁP KHÁM PHÁ QUY TRÌNH (PROCESS DISCOVERY)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Khám Phá Dựa Trên Bằng Chứng &amp; Phỏng Vấn Xác Lập Chính Xác Ranh Giới Giữa Khối HQ và Vận Hành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297680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297680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2011680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81D23"/>
                </a:solidFill>
                <a:latin typeface="Segoe UI"/>
              </a:defRPr>
            </a:pPr>
            <a:r>
              <a:t>EVIDENCE &amp; INTERVIEWS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38587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81D23"/>
                </a:solidFill>
                <a:latin typeface="Segoe UI"/>
              </a:defRPr>
            </a:pPr>
            <a:r>
              <a:t>Phương Pháp Khám Phá Quy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76272"/>
            <a:ext cx="385876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1. Evidence-based Discovery (Bằng chứng):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Khảo sát SOP pha chế Phin Sữa Đá &amp; Trà Sen Vàng.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Trích xuất log 15.000 đơn hàng trên hệ thống POS.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Bóc tách Sổ tay Quy trình &amp; Handbook vận hành.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2. Interview-based Discovery (Phỏng vấn):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10 câu hỏi định tính (5 Structured + 5 Unstructured).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10 câu hỏi định lượng về thời gian pha &amp; chờ đợi.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Đối tượng: Cửa Hàng Trưởng, Giám Sát Ca, Barista.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5266944"/>
            <a:ext cx="3858768" cy="1097280"/>
          </a:xfrm>
          <a:prstGeom prst="rect">
            <a:avLst/>
          </a:prstGeom>
          <a:solidFill>
            <a:srgbClr val="FDF6E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★ KẾT QUẢ RÀ SOÁT THỰC TẾ</a:t>
            </a:r>
          </a:p>
          <a:p>
            <a:pPr>
              <a:defRPr sz="880">
                <a:solidFill>
                  <a:srgbClr val="2A1810"/>
                </a:solidFill>
                <a:latin typeface="Segoe UI"/>
              </a:defRPr>
            </a:pPr>
            <a:r>
              <a:t>Xác định 100% ranh giới trách nhiệm giữa khối Văn phòng (Head Office) và đội ngũ Vận hành Quán (Store Operations).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207008"/>
            <a:ext cx="697961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207008"/>
            <a:ext cx="697961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o_do_co_cau_to_ch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322581"/>
            <a:ext cx="6760159" cy="309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2: PHƯƠNG PHÁP KHÁM PHÁ QUY TRÌNH (INTERVIEW QUESTIONNAIRES)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Bộ Câu Hỏi Phỏng Vấn Thực Địa Khám Phá Quy Trình P04 (10 Định Tính &amp; 10 Định Lượng Chuẩn IE203)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5596128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5596128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5266944" cy="5102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81D23"/>
                </a:solidFill>
                <a:latin typeface="Segoe UI"/>
              </a:defRPr>
            </a:pPr>
            <a:r>
              <a:t>10 CÂU HỎI PHỎNG VẤN ĐỊNH TÍNH (QUALITATIVE)</a:t>
            </a:r>
          </a:p>
          <a:p>
            <a:pPr>
              <a:spcAft>
                <a:spcPts val="200"/>
              </a:spcAft>
              <a:defRPr sz="919" b="1">
                <a:solidFill>
                  <a:srgbClr val="2A1810"/>
                </a:solidFill>
                <a:latin typeface="Segoe UI"/>
              </a:defRPr>
            </a:pPr>
            <a:r>
              <a:t>★ 5 CÂU CÓ CẤU TRÚC (STRUCTURED) &amp; PHÁT HIỆN: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1. Bước tiếp nhận &amp; order tại quầy? -&gt; Chào khách, hỏi món, tư vấn size/topping, báo tiền.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2. Xử lý đồ uống sai vị/quá ngọt? -&gt; Xin lỗi, thu hồi ly lỗi và pha lại ly mới ngay.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3. Nhận biết nguyên liệu sắp hết trong ca? -&gt; Quan sát trực quan, hô to báo thu ngân.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4. Bấm kích hoạt thẻ rung Pager? -&gt; Dễ bấm nhầm số thẻ, khách ngồi góc khuất mất sóng.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5. Kiểm tra cảm quan trước khi giao? -&gt; Độ đầy cách miệng 1cm, form kem whipping đứng.</a:t>
            </a:r>
          </a:p>
          <a:p>
            <a:pPr>
              <a:spcAft>
                <a:spcPts val="200"/>
              </a:spcAft>
              <a:defRPr sz="919" b="1">
                <a:solidFill>
                  <a:srgbClr val="2A1810"/>
                </a:solidFill>
                <a:latin typeface="Segoe UI"/>
              </a:defRPr>
            </a:pPr>
            <a:r>
              <a:t>★ 5 CÂU KHÔNG CẤU TRÚC (UNSTRUCTURED) &amp; PHÁT HIỆN: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6. Nguyên nhân chính gây ùn tắc quầy order? -&gt; Khách chọn món lâu; lỗi mạng chuyển khoản.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7. Khó khăn khi truyền bill giấy sang quầy bar? -&gt; Bill giấy dễ ướt, bay mất, đảo lộn FIFO.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8. Áp lực giờ cao điểm sáng? -&gt; Quá tải dồn dập, tiếng ồn máy xay, khách vây quanh hối thúc.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9. Phản ứng của khách khi chờ lâu? -&gt; Sốt ruột, xem giờ liên tục, 8.5% bỏ hàng đi nơi khác.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10. Nguyện vọng cải tiến hệ thống? -&gt; Có KDS tự động thay bill giấy &amp; Kiosk tự phục vụ.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1207008"/>
            <a:ext cx="5596128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7064" y="1207008"/>
            <a:ext cx="5596128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316736"/>
            <a:ext cx="5266944" cy="5102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81D23"/>
                </a:solidFill>
                <a:latin typeface="Segoe UI"/>
              </a:defRPr>
            </a:pPr>
            <a:r>
              <a:t>10 CÂU HỎI PHỎNG VẤN ĐỊNH LƯỢNG (QUANTITATIVE)</a:t>
            </a:r>
          </a:p>
          <a:p>
            <a:pPr>
              <a:spcAft>
                <a:spcPts val="200"/>
              </a:spcAft>
              <a:defRPr sz="919" b="1">
                <a:solidFill>
                  <a:srgbClr val="2A1810"/>
                </a:solidFill>
                <a:latin typeface="Segoe UI"/>
              </a:defRPr>
            </a:pPr>
            <a:r>
              <a:t>★ 5 CÂU CÓ CẤU TRÚC (STRUCTURED) &amp; KẾT QUẢ ĐO LƯỜNG: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1. Tỷ lệ khách bỏ hàng vì chờ quá lâu? -&gt; 8.5% tổng lượt khách vào quán.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2. Thời gian hoàn thiện 01 ly Freeze/Trà? -&gt; 2.5 – 3.5 phút / ly.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3. Tỷ lệ đơn hàng sai sót phải pha lại (Rework r)? -&gt; 4.5% – 6.8% đơn hàng.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4. Tỷ lệ thanh toán không tiền mặt? -&gt; Chiếm 62% tổng doanh thu.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5. Điểm hài lòng khách hàng (CSAT) tốc độ phục vụ? -&gt; 68% (Mức trung bình khá).</a:t>
            </a:r>
          </a:p>
          <a:p>
            <a:pPr>
              <a:spcAft>
                <a:spcPts val="200"/>
              </a:spcAft>
              <a:defRPr sz="919" b="1">
                <a:solidFill>
                  <a:srgbClr val="2A1810"/>
                </a:solidFill>
                <a:latin typeface="Segoe UI"/>
              </a:defRPr>
            </a:pPr>
            <a:r>
              <a:t>★ 5 CÂU KHÔNG CẤU TRÚC (UNSTRUCTURED) &amp; KẾT QUẢ ĐO LƯỜNG: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6. Thời gian thu ngân order &amp; thanh toán? -&gt; 75 – 90 giây / khách.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7. Lưu lượng khách giờ cao điểm (07:30 - 08:30)? -&gt; 140 – 180 khách / giờ.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8. Thời gian khách xếp hàng chờ gọi món? -&gt; 8.5 – 12.0 phút vào giờ cao điểm.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9. Chi phí giấy in nhiệt bill &amp; order? -&gt; 1.200.000 – 1.500.000 VNĐ / tháng / quán.</a:t>
            </a:r>
          </a:p>
          <a:p>
            <a:pPr>
              <a:spcAft>
                <a:spcPts val="200"/>
              </a:spcAft>
              <a:defRPr sz="860">
                <a:solidFill>
                  <a:srgbClr val="2A1810"/>
                </a:solidFill>
                <a:latin typeface="Segoe UI"/>
              </a:defRPr>
            </a:pPr>
            <a:r>
              <a:t> ▸ 10. Tỷ lệ thẻ rung Pager hỏng hóc/rơi vỡ? -&gt; 15% – 20% / quý (Thiệt hại ~6 Triệu/năm).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3: PHÂN TÍCH HIỆN TRẠNG (QUALITATIVE ANALYSIS)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Phân Tích Định Tính: Phân Loại Giá Trị Gia Tăng (VA/BVA/NVA) &amp; Nhận Diện 7 Lãng Phí Lean (Move - Hold - Overdo)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5596128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5596128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5266944" cy="5102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81D23"/>
                </a:solidFill>
                <a:latin typeface="Segoe UI"/>
              </a:defRPr>
            </a:pPr>
            <a:r>
              <a:t>PHÂN TÍCH GIÁ TRỊ GIA TĂNG (VA / BVA / NVA ANALYSIS)</a:t>
            </a:r>
          </a:p>
          <a:p>
            <a:pPr>
              <a:spcAft>
                <a:spcPts val="200"/>
              </a:spcAft>
              <a:defRPr sz="919" b="1">
                <a:solidFill>
                  <a:srgbClr val="10955D"/>
                </a:solidFill>
                <a:latin typeface="Segoe UI"/>
              </a:defRPr>
            </a:pPr>
            <a:r>
              <a:t>★ NHÓM VA (GIA TĂNG GIÁ TRỊ - 5 HOẠT ĐỘNG):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Khách chọn món đồ uống; Chiết xuất Espresso/Phin chuẩn 9 bar.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Xay đá Freeze &amp; Bơm kem whipping; Nướng nóng Bánh mì que.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Bàn giao khay sản phẩm hoàn chỉnh cho khách hàng.</a:t>
            </a:r>
          </a:p>
          <a:p>
            <a:pPr>
              <a:spcAft>
                <a:spcPts val="200"/>
              </a:spcAft>
              <a:defRPr sz="919" b="1">
                <a:solidFill>
                  <a:srgbClr val="981D23"/>
                </a:solidFill>
                <a:latin typeface="Segoe UI"/>
              </a:defRPr>
            </a:pPr>
            <a:r>
              <a:t>★ NHÓM BVA (GIÁ TRỊ KINH DOANH - 5 HOẠT ĐỘNG):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Chào khách &amp; Tư vấn menu; Thu ngân nhập POS ghi nhận doanh thu.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Khách thanh toán tiền mặt/QR; Gom đồ lên khay; Kiểm tra cảm quan.</a:t>
            </a:r>
          </a:p>
          <a:p>
            <a:pPr>
              <a:spcAft>
                <a:spcPts val="200"/>
              </a:spcAft>
              <a:defRPr sz="919" b="1">
                <a:solidFill>
                  <a:srgbClr val="DC2626"/>
                </a:solidFill>
                <a:latin typeface="Segoe UI"/>
              </a:defRPr>
            </a:pPr>
            <a:r>
              <a:t>★ NHÓM NVA (LÃNG PHÍ CẦN TRIỆT TIÊU - 7 HOẠT ĐỘNG):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Xếp hàng chờ order (8-12p); Báo hết món gián đoạn luồng.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In bill giấy &amp; Nạp thẻ Pager; Khách ngồi chờ thụ động.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Xé bill giấy dán quầy bar; Pha sai khẩu vị làm lại (Rework r = 4.5%).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1207008"/>
            <a:ext cx="5596128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7064" y="1207008"/>
            <a:ext cx="5596128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316736"/>
            <a:ext cx="5266944" cy="5102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81D23"/>
                </a:solidFill>
                <a:latin typeface="Segoe UI"/>
              </a:defRPr>
            </a:pPr>
            <a:r>
              <a:t>PHÂN TÍCH 7 LÃNG PHÍ TINH GỌN (LEAN 7 WASTES)</a:t>
            </a:r>
          </a:p>
          <a:p>
            <a:pPr>
              <a:spcAft>
                <a:spcPts val="200"/>
              </a:spcAft>
              <a:defRPr sz="919" b="1">
                <a:solidFill>
                  <a:srgbClr val="2A1810"/>
                </a:solidFill>
                <a:latin typeface="Segoe UI"/>
              </a:defRPr>
            </a:pPr>
            <a:r>
              <a:t>★ NHÓM MOVE (DI CHUYỂN &amp; THAO TÁC THỪA):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Transportation: Di chuyển bill giấy, mang thẻ rung qua lại các bàn.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Motion: Barista cúi lấy sữa gầm tủ, thu ngân với tay xé bill &amp; nạp thẻ.</a:t>
            </a:r>
          </a:p>
          <a:p>
            <a:pPr>
              <a:spcAft>
                <a:spcPts val="200"/>
              </a:spcAft>
              <a:defRPr sz="919" b="1">
                <a:solidFill>
                  <a:srgbClr val="DC2626"/>
                </a:solidFill>
                <a:latin typeface="Segoe UI"/>
              </a:defRPr>
            </a:pPr>
            <a:r>
              <a:t>★ NHÓM HOLD (CHỜ ĐỢI &amp; TỒN Ứ NGHẼN):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Waiting: Khách chờ xếp hàng (8-12p), chờ pha chế, Barista chờ máy xay.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Inventory: 15-20 khách ùn ứ trước quầy, bill giấy kẹp dồn trên ray.</a:t>
            </a:r>
          </a:p>
          <a:p>
            <a:pPr>
              <a:spcAft>
                <a:spcPts val="200"/>
              </a:spcAft>
              <a:defRPr sz="919" b="1">
                <a:solidFill>
                  <a:srgbClr val="981D23"/>
                </a:solidFill>
                <a:latin typeface="Segoe UI"/>
              </a:defRPr>
            </a:pPr>
            <a:r>
              <a:t>★ NHÓM OVER-DO (LỖI HỎNG &amp; XỬ LÝ THỪA):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Defects: Thu ngân gõ nhầm ít đá thành nhiều đá, đổ bỏ ly làm lại.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Over-processing: Hỏi lại số điện thoại dù đã mở App; in 2 liên bill giấy.</a:t>
            </a:r>
          </a:p>
          <a:p>
            <a:pPr>
              <a:spcAft>
                <a:spcPts val="200"/>
              </a:spcAft>
              <a:defRPr sz="850">
                <a:solidFill>
                  <a:srgbClr val="2A1810"/>
                </a:solidFill>
                <a:latin typeface="Segoe UI"/>
              </a:defRPr>
            </a:pPr>
            <a:r>
              <a:t> ▸ Over-production: Pha dư cà phê phin nguội biến tính vào giờ thấp điểm.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3: PHÂN TÍCH HIỆN TRẠNG (AS-IS QUALITATIVE ANALYSIS)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Phân Tích Pareto 80/20 Chỉ Ra 3 Điểm Nghẽn Chính Chiếm 84.7% Tổng Tổn Thất Tài Chính Tại Quán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114800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1148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2011680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81D23"/>
                </a:solidFill>
                <a:latin typeface="Segoe UI"/>
              </a:defRPr>
            </a:pPr>
            <a:r>
              <a:t>PARETO 80/20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36758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3 Điểm Nghẽn Vận Hành Cốt Lõi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76272"/>
            <a:ext cx="367588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1. Ùn ứ quầy order giờ cao điểm (52.4%):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Khách xếp hàng 8.5-12p gọi món &amp; trả tiền mặt.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Lead time phục vụ đạt tới 23.54 phút/đơn.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2. Sai sót khẩu vị &amp; Rework (20.9%):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Thu ngân ghi thiếu ghi chú ít đường/nhiều đá.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Tỷ lệ làm lại (Rework r): 4.5% lãng phí Food Cost.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3. Lãng phí Thẻ Pager &amp; Bill giấy (11.4%):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Thẻ rung hết pin, hỏng hóc, rơi vỡ liên tục.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5266944"/>
            <a:ext cx="3675888" cy="1097280"/>
          </a:xfrm>
          <a:prstGeom prst="rect">
            <a:avLst/>
          </a:prstGeom>
          <a:solidFill>
            <a:srgbClr val="FDF6E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345643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★ TÁC ĐỘNG TÀI CHÍNH TỔNG HỢP</a:t>
            </a:r>
          </a:p>
          <a:p>
            <a:pPr>
              <a:defRPr sz="880">
                <a:solidFill>
                  <a:srgbClr val="2A1810"/>
                </a:solidFill>
                <a:latin typeface="Segoe UI"/>
              </a:defRPr>
            </a:pPr>
            <a:r>
              <a:t>Gây thất thoát ước tính 1.48 Tỷ VNĐ / năm / khu vực do khách bỏ về và chi phí hủy/pha lại đồ uống.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07008"/>
            <a:ext cx="716249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207008"/>
            <a:ext cx="716249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reto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11237"/>
            <a:ext cx="6943039" cy="39133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3: PHÂN TÍCH NGUYÊN NHÂN GỐC RỄ (5-WHY DIAGRAM)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Phương Pháp 5-Why Truy Vết Quan Hệ Nhân Quả 5 Tầng: Nguồn Cội Điểm Nghẽn Do Thiếu Công Nghệ KDS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ve_wh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07222"/>
            <a:ext cx="11240719" cy="4756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3: PHÂN TÍCH NGUYÊN NHÂN GỐC RỄ (ISHIKAWA 6M)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Biểu Đồ Xương Cá 6M Phân Tích Toàn Diện 18 Nguyên Nhân Gây Chậm Trễ &amp; Sai Sót Món Giờ Cao Điểm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shbo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17" y="1261872"/>
            <a:ext cx="8938260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3: MÔ HÌNH HÓA HIỆN TRẠNG BPMN 2.0 (QUY TRÌNH TRỌNG TÂM AS-IS)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Quy Trình Trọng Tâm As-Is P04: Xử Lý Tuần Tự Thủ Công Khiến Thời Gian Chờ (WT) Chiếm Tới 67.4% Chu Kỳ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4_ban_hang_tai_qu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08559"/>
            <a:ext cx="11240719" cy="4354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THIẾT KẾ QUY TRÌNH CẢI TIẾN &amp; KIẾN TRÚC HỆ THỐNG TO-BE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Hệ Sinh Thái To-Be: Ứng Dụng Kiosk, KDS &amp; BPMS 4 Tầng Tự Động Hóa Thực Thi Theo Nguyên Tắc BPR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114800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114800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2011680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81D23"/>
                </a:solidFill>
                <a:latin typeface="Segoe UI"/>
              </a:defRPr>
            </a:pPr>
            <a:r>
              <a:t>BPR &amp; HEURISTICS H1, H5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36758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81D23"/>
                </a:solidFill>
                <a:latin typeface="Segoe UI"/>
              </a:defRPr>
            </a:pPr>
            <a:r>
              <a:t>4 Trụ Cột Đổi Mới Số Hóa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76272"/>
            <a:ext cx="367588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1. Self-Order Kiosk &amp; Smart App: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Khách tự đặt món, thanh toán VietQR động 3s.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Triệt tiêu 100% hàng đợi ùn ứ tại quầy order.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2. Kitchen Display System (KDS 3 Trạm):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Phân luồng đơn song song (Espresso / Freeze / Bếp).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Xóa sổ hoàn toàn bill giấy in nhiệt dễ ướt rách.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3. Camunda Zeebe BPMS 4 Tầng: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Tự động điều phối luồng trạng thái đơn hàng.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4. Smart BOM Inventory Sync: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  • Tự động trừ tồn kho SAP ERP theo Recipe chuẩn.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5266944"/>
            <a:ext cx="3675888" cy="1097280"/>
          </a:xfrm>
          <a:prstGeom prst="rect">
            <a:avLst/>
          </a:prstGeom>
          <a:solidFill>
            <a:srgbClr val="FDF6E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345643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★ NGUYÊN TẮC CẢI TIẾN BPR</a:t>
            </a:r>
          </a:p>
          <a:p>
            <a:pPr>
              <a:defRPr sz="880">
                <a:solidFill>
                  <a:srgbClr val="2A1810"/>
                </a:solidFill>
                <a:latin typeface="Segoe UI"/>
              </a:defRPr>
            </a:pPr>
            <a:r>
              <a:t>Áp dụng triệt để Heuristics H1 (Resequencing song song) và H5 (Tự động hóa tích hợp dịch vụ).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07008"/>
            <a:ext cx="716249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207008"/>
            <a:ext cx="716249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4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313993"/>
            <a:ext cx="6943039" cy="3107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KIẾN TRÚC HỆ THỐNG TỰ ĐỘNG HÓA QUY TRÌNH (BPMS)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Kiến Trúc BPMS 4 Tầng Camunda Zeebe Điều Phối Tự Động Trạng Thái Đơn Hàng Chuẩn Event-Driven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s_4_lay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87265"/>
            <a:ext cx="11240719" cy="399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THIẾT KẾ TÍCH HỢP DỮ LIỆU &amp; API (SEQUENCE DIAGRAM)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Sơ Đồ Tuần Tự (Sequence Diagram) Tích Hợp API Đồng Bộ Giữa Kiosk, KDS, Camunda &amp; SAP ERP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uence_diagram_t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7926"/>
            <a:ext cx="11240719" cy="49353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MÔ HÌNH HÓA QUY TRÌNH CẢI TIẾN BPMN 2.0 (QUY TRÌNH TRỌNG TÂM TO-BE)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Quy Trình Trọng Tâm To-Be P04: Xử Lý Song Song KDS &amp; Tự Phục Vụ Giúp Cắt Giảm 79.6% Thời Gian Chu Kỳ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4_tobe_ban_hang_k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51737"/>
            <a:ext cx="11240719" cy="46677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MA TRẬN PHÂN CÔNG TRÁCH NHIỆM RACI TO-BE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Ma Trận RACI To-Be Minh Định Trách Nhiệm Từng Vị Trí &amp; Tôn Trọng Quyền Giải Trình Con Người (Human-in-the-loop)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07008"/>
          <a:ext cx="11460175" cy="532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280160"/>
              </a:tblGrid>
              <a:tr h="66522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Hoạt Động Quy Trình To-Be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Khách Hàng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Kiosk/App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KDS Hub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Barista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Store Mgr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Camunda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SAP ERP</a:t>
                      </a:r>
                    </a:p>
                  </a:txBody>
                  <a:tcPr>
                    <a:solidFill>
                      <a:srgbClr val="981D23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1. Đặt món &amp; Tùy chọn khẩu vị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2. Thanh toán mã VietQR động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3. Phân luồng đơn hàng song song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4. Pha chế đồ uống theo SOP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5. Chạm KDS hoàn thành &amp; Gọi nhận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6. Nhận món tại quầy Pickup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7. Trừ tồn kho tự động &amp; Định lượng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A1810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1D23"/>
                          </a:solidFill>
                          <a:latin typeface="Segoe UI"/>
                        </a:defRPr>
                      </a:pPr>
                      <a:r>
                        <a:t>A /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4: PHÂN TÍCH ĐỊNH LƯỢNG HIỆU QUẢ CẢI TIẾN (FLOW ANALYSIS &amp; KPIS)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Hiệu Quả Định Lượng: Rút Ngắn 79.6% Thời Gian Chu Kỳ &amp; Giảm 95.6% Tỷ Lệ Lỗi (Flow Analysis)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3611880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3611880" cy="73152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35024"/>
            <a:ext cx="3282696" cy="5065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981D23"/>
                </a:solidFill>
                <a:latin typeface="Segoe UI"/>
              </a:defRPr>
            </a:pPr>
            <a:r>
              <a:t>THỜI GIAN CHU KỲ (CYCLE TIME)</a:t>
            </a:r>
          </a:p>
          <a:p>
            <a:pPr>
              <a:spcAft>
                <a:spcPts val="800"/>
              </a:spcAft>
              <a:defRPr sz="1300" b="1">
                <a:solidFill>
                  <a:srgbClr val="981D23"/>
                </a:solidFill>
                <a:latin typeface="Segoe UI"/>
              </a:defRPr>
            </a:pPr>
            <a:r>
              <a:t>⚡ -79.6% Thời gian chờ</a:t>
            </a:r>
          </a:p>
          <a:p>
            <a:pPr>
              <a:spcAft>
                <a:spcPts val="200"/>
              </a:spcAft>
              <a:defRPr sz="980">
                <a:solidFill>
                  <a:srgbClr val="DC2626"/>
                </a:solidFill>
                <a:latin typeface="Segoe UI"/>
              </a:defRPr>
            </a:pPr>
            <a:r>
              <a:t>• As-Is (Hiện trạng): CT = 23.54 phút/đơn</a:t>
            </a:r>
          </a:p>
          <a:p>
            <a:pPr>
              <a:spcAft>
                <a:spcPts val="1000"/>
              </a:spcAft>
              <a:defRPr sz="980" b="1">
                <a:solidFill>
                  <a:srgbClr val="10955D"/>
                </a:solidFill>
                <a:latin typeface="Segoe UI"/>
              </a:defRPr>
            </a:pPr>
            <a:r>
              <a:t>• To-Be (Cải tiến): CT = 4.80 phút/đơn</a:t>
            </a:r>
          </a:p>
          <a:p>
            <a:pPr>
              <a:spcAft>
                <a:spcPts val="800"/>
              </a:spcAft>
              <a:defRPr sz="800">
                <a:solidFill>
                  <a:srgbClr val="E1D7C8"/>
                </a:solidFill>
                <a:latin typeface="Segoe UI"/>
              </a:defRPr>
            </a:pPr>
            <a:r>
              <a:t>──────────────────────────</a:t>
            </a:r>
          </a:p>
          <a:p>
            <a:pPr>
              <a:spcAft>
                <a:spcPts val="600"/>
              </a:spcAft>
              <a:defRPr sz="1050" b="1">
                <a:solidFill>
                  <a:srgbClr val="981D23"/>
                </a:solidFill>
                <a:latin typeface="Segoe UI"/>
              </a:defRPr>
            </a:pPr>
            <a:r>
              <a:t>★ BÓC TÁCH FLOW ANALYSIS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Processing Time (PT): 3.50p -&gt; 3.25p (-7.1%).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Waiting Time (WT): 20.04p -&gt; 1.55p (-92.3%).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Cycle Time Efficiency: 14.87% -&gt; 67.71% (Tăng 4.55 lần).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Áp dụng khối song song AND giúp pha đồng thời.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207008"/>
            <a:ext cx="3611880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207008"/>
            <a:ext cx="3611880" cy="7315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335024"/>
            <a:ext cx="3282696" cy="5065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5A059"/>
                </a:solidFill>
                <a:latin typeface="Segoe UI"/>
              </a:defRPr>
            </a:pPr>
            <a:r>
              <a:t>CHẤT LƯỢNG &amp; TỶ LỆ LỖI (QUALITY)</a:t>
            </a:r>
          </a:p>
          <a:p>
            <a:pPr>
              <a:spcAft>
                <a:spcPts val="800"/>
              </a:spcAft>
              <a:defRPr sz="1300" b="1">
                <a:solidFill>
                  <a:srgbClr val="C5A059"/>
                </a:solidFill>
                <a:latin typeface="Segoe UI"/>
              </a:defRPr>
            </a:pPr>
            <a:r>
              <a:t>⚡ -95.6% Tỷ lệ sai sót món</a:t>
            </a:r>
          </a:p>
          <a:p>
            <a:pPr>
              <a:spcAft>
                <a:spcPts val="200"/>
              </a:spcAft>
              <a:defRPr sz="980">
                <a:solidFill>
                  <a:srgbClr val="DC2626"/>
                </a:solidFill>
                <a:latin typeface="Segoe UI"/>
              </a:defRPr>
            </a:pPr>
            <a:r>
              <a:t>• As-Is (Hiện trạng): DR = 6.8% | FTR = 93.2%</a:t>
            </a:r>
          </a:p>
          <a:p>
            <a:pPr>
              <a:spcAft>
                <a:spcPts val="1000"/>
              </a:spcAft>
              <a:defRPr sz="980" b="1">
                <a:solidFill>
                  <a:srgbClr val="10955D"/>
                </a:solidFill>
                <a:latin typeface="Segoe UI"/>
              </a:defRPr>
            </a:pPr>
            <a:r>
              <a:t>• To-Be (Cải tiến): DR = 0.3% | FTR = 99.7%</a:t>
            </a:r>
          </a:p>
          <a:p>
            <a:pPr>
              <a:spcAft>
                <a:spcPts val="800"/>
              </a:spcAft>
              <a:defRPr sz="800">
                <a:solidFill>
                  <a:srgbClr val="E1D7C8"/>
                </a:solidFill>
                <a:latin typeface="Segoe UI"/>
              </a:defRPr>
            </a:pPr>
            <a:r>
              <a:t>──────────────────────────</a:t>
            </a:r>
          </a:p>
          <a:p>
            <a:pPr>
              <a:spcAft>
                <a:spcPts val="600"/>
              </a:spcAft>
              <a:defRPr sz="1050" b="1">
                <a:solidFill>
                  <a:srgbClr val="C5A059"/>
                </a:solidFill>
                <a:latin typeface="Segoe UI"/>
              </a:defRPr>
            </a:pPr>
            <a:r>
              <a:t>★ KIỂM SOÁT SAI HỎNG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Rework rate (r): 4.5% -&gt; 0.1% nhờ màn hình KDS.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Order Accuracy: Đạt 99.7% nhờ khách tự xác nhận.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COPQ (Tổn thất chất lượng kém): Giảm 95.8%.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Triệt tiêu hoàn toàn rủi ro nhìn nhầm ghi chú bill.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207008"/>
            <a:ext cx="3611880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207008"/>
            <a:ext cx="3611880" cy="73152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335024"/>
            <a:ext cx="3282696" cy="5065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955D"/>
                </a:solidFill>
                <a:latin typeface="Segoe UI"/>
              </a:defRPr>
            </a:pPr>
            <a:r>
              <a:t>TỐI ƯU CHI PHÍ &amp; LỢI ÍCH (COST)</a:t>
            </a:r>
          </a:p>
          <a:p>
            <a:pPr>
              <a:spcAft>
                <a:spcPts val="800"/>
              </a:spcAft>
              <a:defRPr sz="1300" b="1">
                <a:solidFill>
                  <a:srgbClr val="10955D"/>
                </a:solidFill>
                <a:latin typeface="Segoe UI"/>
              </a:defRPr>
            </a:pPr>
            <a:r>
              <a:t>⚡ ROI hoàn vốn trong 4.2 tháng</a:t>
            </a:r>
          </a:p>
          <a:p>
            <a:pPr>
              <a:spcAft>
                <a:spcPts val="200"/>
              </a:spcAft>
              <a:defRPr sz="980">
                <a:solidFill>
                  <a:srgbClr val="DC2626"/>
                </a:solidFill>
                <a:latin typeface="Segoe UI"/>
              </a:defRPr>
            </a:pPr>
            <a:r>
              <a:t>• As-Is (Hiện trạng): Chi phí vận hành thủ công</a:t>
            </a:r>
          </a:p>
          <a:p>
            <a:pPr>
              <a:spcAft>
                <a:spcPts val="1000"/>
              </a:spcAft>
              <a:defRPr sz="980" b="1">
                <a:solidFill>
                  <a:srgbClr val="10955D"/>
                </a:solidFill>
                <a:latin typeface="Segoe UI"/>
              </a:defRPr>
            </a:pPr>
            <a:r>
              <a:t>• To-Be (Cải tiến): Tiết kiệm 97.1 Tỷ VNĐ / năm</a:t>
            </a:r>
          </a:p>
          <a:p>
            <a:pPr>
              <a:spcAft>
                <a:spcPts val="800"/>
              </a:spcAft>
              <a:defRPr sz="800">
                <a:solidFill>
                  <a:srgbClr val="E1D7C8"/>
                </a:solidFill>
                <a:latin typeface="Segoe UI"/>
              </a:defRPr>
            </a:pPr>
            <a:r>
              <a:t>──────────────────────────</a:t>
            </a:r>
          </a:p>
          <a:p>
            <a:pPr>
              <a:spcAft>
                <a:spcPts val="600"/>
              </a:spcAft>
              <a:defRPr sz="1050" b="1">
                <a:solidFill>
                  <a:srgbClr val="10955D"/>
                </a:solidFill>
                <a:latin typeface="Segoe UI"/>
              </a:defRPr>
            </a:pPr>
            <a:r>
              <a:t>★ GIÁ TRỊ TÀI CHÍNH TOÀN CHUỖI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Chi phí lãng phí chờ đợi: Giảm 92.3% per đơn.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Tiết kiệm giấy in bill: 12.5 Tỷ VNĐ/năm toàn chuỗi.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Tăng năng lực phục vụ giờ cao điểm: +350% đơn/giờ.</a:t>
            </a:r>
          </a:p>
          <a:p>
            <a:pPr>
              <a:spcAft>
                <a:spcPts val="380"/>
              </a:spcAft>
              <a:defRPr sz="950">
                <a:solidFill>
                  <a:srgbClr val="2A1810"/>
                </a:solidFill>
                <a:latin typeface="Segoe UI"/>
              </a:defRPr>
            </a:pPr>
            <a:r>
              <a:t>▸ Chi phí đầu tư Kiosk/KDS: 42 Triệu/quán (Hoàn vốn nhanh).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CHƯƠNG 5: GIÁM SÁT THỜI GIAN THỰC &amp; LỘ TRÌNH TRIỂN KHAI (ROADMAP)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BAM Dashboard 3 Tầng Giám Sát Thời Gian Thực Kết Hợp Lộ Trình 4 Giai Đoạn Phủ Rộng Toàn Chuỗi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114800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114800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371600"/>
            <a:ext cx="2011680" cy="219456"/>
          </a:xfrm>
          <a:prstGeom prst="rect">
            <a:avLst/>
          </a:prstGeom>
          <a:solidFill>
            <a:srgbClr val="F5EBDC"/>
          </a:solidFill>
          <a:ln w="9525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981D23"/>
                </a:solidFill>
                <a:latin typeface="Segoe UI"/>
              </a:defRPr>
            </a:pPr>
            <a:r>
              <a:t>4-PHASE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627632"/>
            <a:ext cx="36758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81D23"/>
                </a:solidFill>
                <a:latin typeface="Segoe UI"/>
              </a:defRPr>
            </a:pPr>
            <a:r>
              <a:t>Lộ Trình 4 Giai Đoạn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176272"/>
            <a:ext cx="3675888" cy="309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✦ Phase 1 (Q1 - 3 tháng): Pilot KDS &amp; Kiosk tại 20 quán Flagship TP.HCM &amp; Hà Nội.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✦ Phase 2 (Q2-Q3 - 6 tháng): Triển khai diện rộng 1.000+ quán toàn quốc.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✦ Phase 3 (Q4 - 3 tháng): Tích hợp IoT máy xay &amp; Tự động đối soát ngân hàng.</a:t>
            </a:r>
          </a:p>
          <a:p>
            <a:pPr>
              <a:spcAft>
                <a:spcPts val="450"/>
              </a:spcAft>
              <a:defRPr sz="1019">
                <a:solidFill>
                  <a:srgbClr val="2A1810"/>
                </a:solidFill>
                <a:latin typeface="Segoe UI"/>
              </a:defRPr>
            </a:pPr>
            <a:r>
              <a:t>✦ Phase 4 (Năm tiếp theo): Ứng dụng Process Mining &amp; AI dự báo nhu cầu khách hàng.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5266944"/>
            <a:ext cx="3675888" cy="1097280"/>
          </a:xfrm>
          <a:prstGeom prst="rect">
            <a:avLst/>
          </a:prstGeom>
          <a:solidFill>
            <a:srgbClr val="FDF6EE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345643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★ KIẾN TRÚC GIÁM SÁT VẬN HÀNH</a:t>
            </a:r>
          </a:p>
          <a:p>
            <a:pPr>
              <a:defRPr sz="880">
                <a:solidFill>
                  <a:srgbClr val="2A1810"/>
                </a:solidFill>
                <a:latin typeface="Segoe UI"/>
              </a:defRPr>
            </a:pPr>
            <a:r>
              <a:t>BAM Dashboard phân cấp 3 tầng (Chiến lược C-Level -&gt; Quản trị Store Manager -&gt; Vận hành Quầy Bar) bảo đảm kiểm soát chất lượng thời gian thực.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07008"/>
            <a:ext cx="716249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207008"/>
            <a:ext cx="716249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_giam_sat_3_t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728819"/>
            <a:ext cx="6943039" cy="2278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594360"/>
            <a:ext cx="4693615" cy="502920"/>
          </a:xfrm>
          <a:prstGeom prst="rect">
            <a:avLst/>
          </a:prstGeom>
          <a:solidFill>
            <a:srgbClr val="781419"/>
          </a:solidFill>
          <a:ln w="1524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5A059"/>
                </a:solidFill>
                <a:latin typeface="Segoe UI"/>
              </a:defRPr>
            </a:pPr>
            <a:r>
              <a:t>✦  HIGHLANDS COFFEE  •  TỰ HÀO ĐẤT VIỆT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XIN TRÂN TRỌNG CẢM ƠN!</a:t>
            </a:r>
          </a:p>
          <a:p>
            <a:pPr algn="ctr">
              <a:spcAft>
                <a:spcPts val="2000"/>
              </a:spcAft>
              <a:defRPr sz="1300">
                <a:solidFill>
                  <a:srgbClr val="FEE2E2"/>
                </a:solidFill>
                <a:latin typeface="Segoe UI"/>
              </a:defRPr>
            </a:pPr>
            <a:r>
              <a:t>Đồ Án Môn Học IE203 - Hệ Thống Quản Trị Quy Trình Nghiệp Vụ</a:t>
            </a:r>
            <a:br/>
            <a:r>
              <a:t>Khoa Hệ Thống Thông Tin - Trường Đại Học Công Nghệ Thông Tin (UIT)</a:t>
            </a:r>
          </a:p>
          <a:p>
            <a:pPr algn="ctr">
              <a:defRPr sz="1800" b="1">
                <a:solidFill>
                  <a:srgbClr val="DAA520"/>
                </a:solidFill>
                <a:latin typeface="Segoe UI"/>
              </a:defRPr>
            </a:pPr>
            <a:r>
              <a:t>Kính mời Quý Thầy / Cô và Hội đồng đặt câu hỏi phản biện (Q&amp;A)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10362895" cy="1280160"/>
          </a:xfrm>
          <a:prstGeom prst="rect">
            <a:avLst/>
          </a:prstGeom>
          <a:solidFill>
            <a:srgbClr val="500A0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C5A059"/>
                </a:solidFill>
                <a:latin typeface="Segoe UI"/>
              </a:defRPr>
            </a:pPr>
            <a:r>
              <a:t>TỔNG KẾT KẾT QUẢ ĐẠT ĐƯỢC CỦA ĐỀ TÀI</a:t>
            </a:r>
          </a:p>
          <a:p>
            <a:pPr algn="ctr">
              <a:defRPr sz="1050">
                <a:solidFill>
                  <a:srgbClr val="FEE2E2"/>
                </a:solidFill>
                <a:latin typeface="Segoe UI"/>
              </a:defRPr>
            </a:pPr>
            <a:r>
              <a:t>▸ Rút ngắn 79.6% thời gian phục vụ (23.54p -&gt; 4.80p)   |   ▸ Giảm 95.6% sai sót khẩu vị &amp; làm lại</a:t>
            </a:r>
            <a:br/>
            <a:r>
              <a:t>▸ Tiết kiệm 97.1 Tỷ VNĐ/năm toàn chuỗi 1.000+ quán   |   ▸ Chuẩn hóa 100% theo chuẩn BPMN 2.0 &amp; Bruce Silver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C5A059"/>
                </a:solidFill>
                <a:latin typeface="Segoe UI"/>
              </a:defRPr>
            </a:pPr>
            <a:r>
              <a:t>PHẦN BỔ TRỢ HỘI ĐỒNG PHẢN BIỆN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PHỤ LỤC (APPENDIX)</a:t>
            </a:r>
            <a:br/>
            <a:r>
              <a:t>DANH MỤC CÁC QUY TRÌNH NGHIỆP VỤ BỔ TRỢ</a:t>
            </a:r>
          </a:p>
          <a:p>
            <a:pPr algn="ctr">
              <a:defRPr sz="1200">
                <a:solidFill>
                  <a:srgbClr val="FEE2E2"/>
                </a:solidFill>
                <a:latin typeface="Segoe UI"/>
              </a:defRPr>
            </a:pPr>
            <a:r>
              <a:t>Chi tiết 6 sơ đồ BPMN 2.0 bổ trợ (P01, P02, P05, P08, P09, P10) phục vụ đối chiếu và phản biện chuyên sâu.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QUẢN LÝ (P01)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1] Mô Hình Hóa BPMN 2.0 P01: Quy Trình Khảo Sát &amp; Phê Duyệt Mặt Bằng Cửa Hàng (Management)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1_phe_duyet_mat_b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63903"/>
            <a:ext cx="11240719" cy="40434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QUẢN LÝ (P02)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2] Mô Hình Hóa BPMN 2.0 P02: Quy Trình Kiểm Soát An Toàn Thực Phẩm &amp; Audit Quán (Management)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2_kiem_tra_atvs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39" y="1261872"/>
            <a:ext cx="10507015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CỐT LÕI (P05)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3] Mô Hình Hóa BPMN 2.0 P05: Quy Trình Hội Viên &amp; Tích Điểm Highlands Rewards Đa Kênh (Core)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5_hoi_vien_rew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67" y="1261872"/>
            <a:ext cx="10970560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CỐT LÕI (P08)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4] Mô Hình Hóa BPMN 2.0 P08: Quy Trình Cung Ứng &amp; Mua Sắm Nguyên Vật Liệu Tươi (Core Supply)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8_cung_ung_nguyen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68651"/>
            <a:ext cx="11240719" cy="46339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HỖ TRỢ (P09)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5] Mô Hình Hóa BPMN 2.0 P09: Quy Trình Tuyển Dụng &amp; Đào Tạo Barista Chuẩn SOP (Support HR)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8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09_tuyen_dung_bar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894" y="1261872"/>
            <a:ext cx="9269905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ghlands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8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2191695" cy="228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6017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981D23"/>
                </a:solidFill>
                <a:latin typeface="Segoe UI"/>
              </a:defRPr>
            </a:pPr>
            <a:r>
              <a:t>PHỤ LỤC BỔ TRỢ: QUY TRÌNH HỖ TRỢ (P10)</a:t>
            </a:r>
          </a:p>
          <a:p>
            <a:pPr>
              <a:defRPr sz="1750" b="1">
                <a:solidFill>
                  <a:srgbClr val="2A1810"/>
                </a:solidFill>
                <a:latin typeface="Segoe UI"/>
              </a:defRPr>
            </a:pPr>
            <a:r>
              <a:t>[Phụ Lục 6] Mô Hình Hóa BPMN 2.0 P10: Bảo Trì &amp; Hiệu Chuẩn Thiết Bị Quầy Bar &amp; Máy Pha Cà Phê (Support)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60175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60175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_p10_bao_tri_may_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02611"/>
            <a:ext cx="11240719" cy="3766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